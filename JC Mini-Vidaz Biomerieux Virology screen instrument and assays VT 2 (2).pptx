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2" r:id="rId5"/>
    <p:sldId id="285" r:id="rId6"/>
    <p:sldId id="262" r:id="rId7"/>
    <p:sldId id="263" r:id="rId8"/>
    <p:sldId id="274" r:id="rId9"/>
    <p:sldId id="273" r:id="rId10"/>
    <p:sldId id="275" r:id="rId11"/>
    <p:sldId id="299" r:id="rId12"/>
    <p:sldId id="308" r:id="rId13"/>
    <p:sldId id="265" r:id="rId14"/>
    <p:sldId id="258" r:id="rId15"/>
    <p:sldId id="259" r:id="rId16"/>
    <p:sldId id="264" r:id="rId17"/>
    <p:sldId id="260" r:id="rId18"/>
    <p:sldId id="261"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84" autoAdjust="0"/>
    <p:restoredTop sz="94660"/>
  </p:normalViewPr>
  <p:slideViewPr>
    <p:cSldViewPr snapToGrid="0">
      <p:cViewPr>
        <p:scale>
          <a:sx n="69" d="100"/>
          <a:sy n="69" d="100"/>
        </p:scale>
        <p:origin x="-1314" y="-492"/>
      </p:cViewPr>
      <p:guideLst>
        <p:guide orient="horz" pos="2160"/>
        <p:guide pos="38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00CB34-85F1-450C-9448-7B6A73759AB4}"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585C5-C9F1-46E2-91C0-BBCD556D8EEF}"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GB" dirty="0">
                <a:sym typeface="+mn-ea"/>
              </a:rPr>
              <a:t>Quickly assess immunity to improve patient flow. </a:t>
            </a:r>
            <a:endParaRPr lang="en-GB" dirty="0"/>
          </a:p>
          <a:p>
            <a:r>
              <a:rPr lang="en-GB" dirty="0">
                <a:sym typeface="+mn-ea"/>
              </a:rPr>
              <a:t>Batching of samples is not required in relation to labelling samples for single assays by serology for IgM antibodies. </a:t>
            </a:r>
            <a:endParaRPr lang="en-GB" dirty="0"/>
          </a:p>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GB" altLang="en-US"/>
              <a:t>Hepatitis also has the core Ag and Abs. </a:t>
            </a:r>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https://www.gov.uk/government/uploads/system/uploads/attachment_data/file/554656/V_28i3.1.pdf</a:t>
            </a:r>
            <a:endParaRPr lang="en-GB" dirty="0"/>
          </a:p>
          <a:p>
            <a:endParaRPr lang="en-GB" dirty="0"/>
          </a:p>
          <a:p>
            <a:r>
              <a:rPr lang="en-GB" dirty="0"/>
              <a:t>Less than 4 microns/ml at 3 weeks Human cytomegalovirus (HCMV) is a human betaherpesvirus (family Herpesviridae, subfamily Betaherpesvirinae, genus Cytomegalovirus, type species Human herpesvirus 5), which, after primary infection, remains in a latent state for the entire lifetime of the host.[1] HCMV has a ubiquitous distribution, with between 40 and 90% of all adults worldwide carrying the virus.[1,2] In immunocompetent hosts, HCMV usually causes a mild or asymptomatic infection, but it is highly pathogenic in immunosuppressed patients and causes potentially lethal infections, especially in transplant recipients and AIDS patients.[1,3] In addition, HCMV is an important viral cause of fetal infection and may lead to severe clinical complications in the newborn child, such as encephalitis, chorioretinitis, pneumonia, microcephaly and hearing loss, as well as impaired cognitive development.[1,3]</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smtClean="0"/>
              <a:t>www.gov.uk/government/uploads/system/uploads/attachment_data/file/443467/V_26i5.pdf</a:t>
            </a:r>
            <a:endParaRPr lang="en-GB" dirty="0" smtClean="0"/>
          </a:p>
          <a:p>
            <a:endParaRPr lang="en-GB" dirty="0" smtClean="0"/>
          </a:p>
          <a:p>
            <a:r>
              <a:rPr lang="en-GB" dirty="0" smtClean="0">
                <a:sym typeface="+mn-ea"/>
              </a:rPr>
              <a:t>5-10 % of cases are caused by CMV, Toxoplasma </a:t>
            </a:r>
            <a:r>
              <a:rPr lang="en-GB" dirty="0" err="1" smtClean="0">
                <a:sym typeface="+mn-ea"/>
              </a:rPr>
              <a:t>gondii</a:t>
            </a:r>
            <a:r>
              <a:rPr lang="en-GB" dirty="0" smtClean="0">
                <a:sym typeface="+mn-ea"/>
              </a:rPr>
              <a:t>, adenovirus, viral hepatitis, HIV, rubella. </a:t>
            </a:r>
            <a:endParaRPr lang="en-GB" dirty="0" smtClean="0">
              <a:sym typeface="+mn-ea"/>
            </a:endParaRPr>
          </a:p>
          <a:p>
            <a:r>
              <a:rPr lang="en-GB" sz="1100" dirty="0" smtClean="0"/>
              <a:t>Characterised: fever, malaise (difficult to identify illness), sore throat and lymphadenopathy (mononuclear lymphocytosis with atypical lymphocytes)- Increase in CD8 T+ cells.</a:t>
            </a:r>
            <a:endParaRPr lang="en-GB" sz="1100" dirty="0" smtClean="0"/>
          </a:p>
          <a:p>
            <a:r>
              <a:rPr lang="en-GB" dirty="0" smtClean="0">
                <a:sym typeface="+mn-ea"/>
              </a:rPr>
              <a:t>Lymphadenopathy may be prominent in both the anterior and the posterior triangles of the neck, which  distinguishes infectious mononucleosis from bacterial tonsillitis.</a:t>
            </a:r>
            <a:endParaRPr lang="en-GB" dirty="0" smtClean="0">
              <a:sym typeface="+mn-ea"/>
            </a:endParaRPr>
          </a:p>
          <a:p>
            <a:endParaRPr lang="en-GB"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GB" sz="1200" dirty="0" smtClean="0">
                <a:sym typeface="+mn-ea"/>
              </a:rPr>
              <a:t>Fever, sore throat, swollen lymph nodes in the neck, and sometimes an enlarged spleen which could rupture. </a:t>
            </a:r>
            <a:endParaRPr lang="en-GB" sz="1200"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en-GB" sz="1200"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GB" sz="1200" dirty="0" smtClean="0">
                <a:sym typeface="+mn-ea"/>
              </a:rPr>
              <a:t>Can cause thrombocytopenia in 25-50 % of cases. </a:t>
            </a:r>
            <a:endParaRPr lang="en-GB" sz="1200"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en-GB" sz="1200"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en-IE" sz="1200" b="1" i="0" kern="1200" dirty="0" smtClean="0">
                <a:solidFill>
                  <a:schemeClr val="tx1"/>
                </a:solidFill>
                <a:effectLst/>
                <a:latin typeface="+mn-lt"/>
                <a:ea typeface="+mn-ea"/>
                <a:cs typeface="+mn-cs"/>
              </a:rPr>
              <a:t>EBV nuclear antigen (EBNA)</a:t>
            </a:r>
            <a:br>
              <a:rPr lang="en-IE" sz="1200" b="0" i="0" kern="1200" dirty="0" smtClean="0">
                <a:solidFill>
                  <a:schemeClr val="tx1"/>
                </a:solidFill>
                <a:effectLst/>
                <a:latin typeface="+mn-lt"/>
                <a:ea typeface="+mn-ea"/>
                <a:cs typeface="+mn-cs"/>
              </a:rPr>
            </a:br>
            <a:r>
              <a:rPr lang="en-IE" sz="1200" b="0" i="0" kern="1200" dirty="0" smtClean="0">
                <a:solidFill>
                  <a:schemeClr val="tx1"/>
                </a:solidFill>
                <a:effectLst/>
                <a:latin typeface="+mn-lt"/>
                <a:ea typeface="+mn-ea"/>
                <a:cs typeface="+mn-cs"/>
              </a:rPr>
              <a:t>Antibody to EBNA, determined by the standard </a:t>
            </a:r>
            <a:r>
              <a:rPr lang="en-IE" sz="1200" b="0" i="0" kern="1200" dirty="0" err="1" smtClean="0">
                <a:solidFill>
                  <a:schemeClr val="tx1"/>
                </a:solidFill>
                <a:effectLst/>
                <a:latin typeface="+mn-lt"/>
                <a:ea typeface="+mn-ea"/>
                <a:cs typeface="+mn-cs"/>
              </a:rPr>
              <a:t>immunofluorescent</a:t>
            </a:r>
            <a:r>
              <a:rPr lang="en-IE" sz="1200" b="0" i="0" kern="1200" dirty="0" smtClean="0">
                <a:solidFill>
                  <a:schemeClr val="tx1"/>
                </a:solidFill>
                <a:effectLst/>
                <a:latin typeface="+mn-lt"/>
                <a:ea typeface="+mn-ea"/>
                <a:cs typeface="+mn-cs"/>
              </a:rPr>
              <a:t> test, is not seen in the acute phase of EBV infection but slowly appears 2 to 4 months after onset of symptoms and persists for the rest of a person’s life. Other EBNA enzyme immunoassays may report false positive results.</a:t>
            </a:r>
            <a:endParaRPr lang="en-IE"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GB" sz="1200" dirty="0" err="1" smtClean="0">
                <a:sym typeface="+mn-ea"/>
              </a:rPr>
              <a:t>Monospot</a:t>
            </a:r>
            <a:r>
              <a:rPr lang="en-GB" sz="1200" dirty="0" smtClean="0">
                <a:sym typeface="+mn-ea"/>
              </a:rPr>
              <a:t> test not recommended because</a:t>
            </a:r>
            <a:r>
              <a:rPr lang="en-GB" sz="1200" baseline="0" dirty="0" smtClean="0">
                <a:sym typeface="+mn-ea"/>
              </a:rPr>
              <a:t> of the lack of </a:t>
            </a:r>
            <a:r>
              <a:rPr lang="en-GB" sz="1200" baseline="0" dirty="0" err="1" smtClean="0">
                <a:sym typeface="+mn-ea"/>
              </a:rPr>
              <a:t>heterophile</a:t>
            </a:r>
            <a:r>
              <a:rPr lang="en-GB" sz="1200" baseline="0" dirty="0" smtClean="0">
                <a:sym typeface="+mn-ea"/>
              </a:rPr>
              <a:t> antibodies in children. Does not fully confirm the presence of EBV but does confirm the typical presence of infectious mononucleosis. </a:t>
            </a:r>
            <a:endParaRPr lang="en-GB" sz="1200" dirty="0" smtClean="0">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en-IE"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IE"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endParaRPr lang="en-GB" sz="1200" dirty="0" smtClean="0">
              <a:sym typeface="+mn-ea"/>
            </a:endParaRPr>
          </a:p>
          <a:p>
            <a:endParaRPr lang="en-GB" dirty="0" smtClean="0">
              <a:sym typeface="+mn-ea"/>
            </a:endParaRPr>
          </a:p>
          <a:p>
            <a:endParaRPr lang="en-GB" dirty="0"/>
          </a:p>
          <a:p>
            <a:endParaRPr lang="en-GB" dirty="0"/>
          </a:p>
          <a:p>
            <a:r>
              <a:rPr lang="en-GB" dirty="0"/>
              <a:t>https://www.slideshare.net/mrmodaq/epstein-barr-virus-46848272</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http://www.nejm.org/doi/full/10.1056/NEJMcp1001116</a:t>
            </a:r>
            <a:endParaRPr lang="en-IE"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GB" altLang="en-US"/>
              <a:t>http://www.biomerieux-diagnostics.com/vidasr-hepatitis-panel-0</a:t>
            </a:r>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https://www.slideshare.net/alanisaad/measles-5230049?qid=1b6d38c3-ae42-4965-a086-45df228ecaa8&amp;v=&amp;b=&amp;from_search=1</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http://data.hnt.no/ftp/eqspublic/pasientforlop/docs/doc_18945/attachments/VIDAS_miniVIDAS_ServiceManual_31-01-2011[1].pdf             User setup manual. </a:t>
            </a:r>
            <a:endParaRPr lang="en-GB" dirty="0"/>
          </a:p>
          <a:p>
            <a:endParaRPr lang="en-GB" dirty="0"/>
          </a:p>
          <a:p>
            <a:r>
              <a:rPr lang="en-GB" dirty="0"/>
              <a:t>Each slot can run 6 tests. So load the strip onto the clips of the well into the surface plasmon resonance compartment. </a:t>
            </a:r>
            <a:endParaRPr lang="en-GB" dirty="0" smtClean="0"/>
          </a:p>
          <a:p>
            <a:endParaRPr lang="en-GB" dirty="0" smtClean="0"/>
          </a:p>
          <a:p>
            <a:r>
              <a:rPr lang="en-GB" dirty="0" smtClean="0"/>
              <a:t>https://youtu.be/mr_2Uf7Y0P8</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dirty="0"/>
              <a:t>https://www.youtube.com/watch?v=mr_2Uf7Y0P8</a:t>
            </a:r>
            <a:endParaRPr lang="en-GB" dirty="0"/>
          </a:p>
          <a:p>
            <a:endParaRPr lang="en-GB" dirty="0"/>
          </a:p>
          <a:p>
            <a:r>
              <a:rPr lang="en-GB" dirty="0"/>
              <a:t>Start Section: To start an analysis as soon as SPR® , strips and samples are in position. Status Screen: To know the status of sections A &amp; B and temperature of SPR® and Strip areas. Master Lot Menu: To scan the Master Lot data for any new parameter or new assay lot. Results Menu: Direct access to stored results for validation, print or reprint of assay list. Utility Menu: Con </a:t>
            </a:r>
            <a:r>
              <a:rPr lang="en-GB" dirty="0" err="1"/>
              <a:t>guration</a:t>
            </a:r>
            <a:r>
              <a:rPr lang="en-GB" dirty="0"/>
              <a:t> of the instrument (e.g.: unit, date &amp; time, user ID, language, printer, barcode wand).</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https://techlib.biomerieux.com/wcm/techlib/techlib/documents/docLink/User_Manual/68246001-68247000/User_Manual_-_161150-849_-_A_-_en_-_mini_VIDAS_-_INDUS_-_US.pdf</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minividas</a:t>
            </a:r>
            <a:r>
              <a:rPr lang="en-GB" dirty="0"/>
              <a:t> user manual for the more detailed operation features. Deactivate slot that does not work and phone technical support.</a:t>
            </a:r>
            <a:endParaRPr lang="en-GB" dirty="0"/>
          </a:p>
          <a:p>
            <a:endParaRPr lang="en-GB" dirty="0"/>
          </a:p>
          <a:p>
            <a:r>
              <a:rPr lang="en-GB" dirty="0"/>
              <a:t>http://www.analysis-laboratorioclinico.com/wp-content/uploads/pdf/mini-vidas-assays-immunoassay-product.pdf</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https://techlib.biomerieux.com/wcm/techlib/techlib/documents/docLink/User_Manual/68246001-68247000/User_Manual_-_161150-849_-_A_-_en_-_mini_VIDAS_-_INDUS_-_US.pdf</a:t>
            </a:r>
            <a:endParaRPr lang="en-GB" dirty="0"/>
          </a:p>
        </p:txBody>
      </p:sp>
      <p:sp>
        <p:nvSpPr>
          <p:cNvPr id="4" name="Slide Number Placeholder 3"/>
          <p:cNvSpPr>
            <a:spLocks noGrp="1"/>
          </p:cNvSpPr>
          <p:nvPr>
            <p:ph type="sldNum" sz="quarter" idx="10"/>
          </p:nvPr>
        </p:nvSpPr>
        <p:spPr/>
        <p:txBody>
          <a:bodyPr/>
          <a:lstStyle/>
          <a:p>
            <a:fld id="{84E585C5-C9F1-46E2-91C0-BBCD556D8EEF}"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GB" altLang="en-US"/>
              <a:t>Sensitivity and speciof the assays are detailed and in the respective studies of sensitivity and specificity.</a:t>
            </a:r>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DAB16F-02D7-4D34-A7D8-D6E4F3B950A4}"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p>
            <a:fld id="{B88A7EFA-36CD-4C0B-87BC-C70E50EB4A09}"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68C78971-191A-4D51-8944-AA6C76F989BC}"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2A6F530-C69C-4A48-8F19-FD00AD30AC4C}"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50A37D2-399D-4C49-BF7D-CB052FC74368}" type="datetime1">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276E993-FB67-4F24-B241-50BDCBE672E5}" type="datetime1">
              <a:rPr lang="en-GB" smtClean="0"/>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03FDD37-6A16-402D-A0EA-0659AB78B8F0}" type="datetime1">
              <a:rPr lang="en-GB" smtClean="0"/>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7" name="Date Placeholder 4"/>
          <p:cNvSpPr>
            <a:spLocks noGrp="1"/>
          </p:cNvSpPr>
          <p:nvPr>
            <p:ph type="dt" sz="half" idx="10"/>
          </p:nvPr>
        </p:nvSpPr>
        <p:spPr/>
        <p:txBody>
          <a:bodyPr/>
          <a:lstStyle/>
          <a:p>
            <a:fld id="{01DCC165-9505-4185-856D-6346127F79DF}" type="datetime1">
              <a:rPr lang="en-GB" smtClean="0"/>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C6003910-BB90-4DC8-8B95-DF2FE4DFB059}"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C134065B-872F-49CA-8FE5-4A01C52D3D20}"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DBEB974-7E2E-4C56-A34F-945B658BDCBD}"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endParaRPr 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3F9192B1-59D5-4C11-AB0B-2A374194ED66}"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5B44E4D0-EEFA-41B5-B207-368BDDE3A945}"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BBE7F33-CC39-4586-B8E3-6C2771100114}" type="datetime1">
              <a:rPr lang="en-GB" smtClean="0"/>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0076BE-00EB-4FFC-9EB1-02A91CDBD888}" type="datetime1">
              <a:rPr lang="en-GB" smtClean="0"/>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CDC0B76-367C-4950-AB2C-8981A3F5B9F1}"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D94EEF0-EB8B-4BBF-BA15-2838A08FC64E}"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1E5F3CD-2A2E-4258-A28E-201BCBCB9487}" type="datetime1">
              <a:rPr lang="en-GB" smtClean="0"/>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05719FF-A8F7-43B6-AA52-F4FB8B1F7149}" type="slidenum">
              <a:rPr lang="en-GB" smtClean="0"/>
            </a:fld>
            <a:endParaRPr lang="en-GB"/>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hyperlink" Target="https://www.webmd.com/cancer/lymphoma/lymphoma-cancer" TargetMode="External"/><Relationship Id="rId1" Type="http://schemas.openxmlformats.org/officeDocument/2006/relationships/hyperlink" Target="https://www.cdc.gov/epstein-barr/about-mono.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hyperlink" Target="Vitamin%20D%20by%20MIniVidas%20-%20YouTube.html"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hyperlink" Target="https://www.ncbi.nlm.nih.gov/pubmed/18823815" TargetMode="External"/><Relationship Id="rId3" Type="http://schemas.openxmlformats.org/officeDocument/2006/relationships/hyperlink" Target="https://patents.google.com/patent/US20170114392A1/en" TargetMode="External"/><Relationship Id="rId2" Type="http://schemas.openxmlformats.org/officeDocument/2006/relationships/hyperlink" Target="http://www.biomerieux.com/en/immunoassay-publications" TargetMode="External"/><Relationship Id="rId1" Type="http://schemas.openxmlformats.org/officeDocument/2006/relationships/hyperlink" Target="http://www.ncbi.nlm.nih.gov/sites/entrez?cmd=retrieve&amp;db=pubmed&amp;uid=2318277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1849" y="2784763"/>
            <a:ext cx="9382457" cy="2037773"/>
          </a:xfrm>
        </p:spPr>
        <p:txBody>
          <a:bodyPr>
            <a:normAutofit fontScale="90000"/>
          </a:bodyPr>
          <a:lstStyle/>
          <a:p>
            <a:br>
              <a:rPr lang="en-GB" dirty="0"/>
            </a:br>
            <a:br>
              <a:rPr lang="en-GB" dirty="0"/>
            </a:br>
            <a:br>
              <a:rPr lang="en-GB" dirty="0"/>
            </a:br>
            <a:br>
              <a:rPr lang="en-GB" dirty="0"/>
            </a:br>
            <a:br>
              <a:rPr lang="en-GB" dirty="0"/>
            </a:br>
            <a:br>
              <a:rPr lang="en-GB" dirty="0" smtClean="0"/>
            </a:br>
            <a:br>
              <a:rPr lang="en-GB" dirty="0"/>
            </a:br>
            <a:br>
              <a:rPr lang="en-GB" dirty="0" smtClean="0"/>
            </a:br>
            <a:r>
              <a:rPr lang="en-GB" dirty="0" smtClean="0">
                <a:solidFill>
                  <a:schemeClr val="bg2">
                    <a:lumMod val="20000"/>
                    <a:lumOff val="80000"/>
                  </a:schemeClr>
                </a:solidFill>
                <a:latin typeface="Times New Roman" panose="02020603050405020304" charset="0"/>
              </a:rPr>
              <a:t>Mini </a:t>
            </a:r>
            <a:r>
              <a:rPr lang="en-GB" dirty="0" err="1" smtClean="0">
                <a:solidFill>
                  <a:schemeClr val="bg2">
                    <a:lumMod val="20000"/>
                    <a:lumOff val="80000"/>
                  </a:schemeClr>
                </a:solidFill>
                <a:latin typeface="Times New Roman" panose="02020603050405020304" charset="0"/>
              </a:rPr>
              <a:t>Vidas</a:t>
            </a:r>
            <a:r>
              <a:rPr lang="en-GB" dirty="0" smtClean="0">
                <a:solidFill>
                  <a:schemeClr val="bg2">
                    <a:lumMod val="20000"/>
                    <a:lumOff val="80000"/>
                  </a:schemeClr>
                </a:solidFill>
                <a:latin typeface="Times New Roman" panose="02020603050405020304" charset="0"/>
              </a:rPr>
              <a:t> Automated</a:t>
            </a:r>
            <a:br>
              <a:rPr lang="en-GB" dirty="0" smtClean="0">
                <a:solidFill>
                  <a:schemeClr val="bg2">
                    <a:lumMod val="20000"/>
                    <a:lumOff val="80000"/>
                  </a:schemeClr>
                </a:solidFill>
                <a:latin typeface="Times New Roman" panose="02020603050405020304" charset="0"/>
              </a:rPr>
            </a:br>
            <a:r>
              <a:rPr lang="en-GB" dirty="0" smtClean="0">
                <a:solidFill>
                  <a:schemeClr val="bg2">
                    <a:lumMod val="20000"/>
                    <a:lumOff val="80000"/>
                  </a:schemeClr>
                </a:solidFill>
                <a:latin typeface="Times New Roman" panose="02020603050405020304" charset="0"/>
              </a:rPr>
              <a:t>Immunoassay System</a:t>
            </a:r>
            <a:br>
              <a:rPr lang="en-GB" sz="6600" dirty="0">
                <a:solidFill>
                  <a:schemeClr val="bg2">
                    <a:lumMod val="20000"/>
                    <a:lumOff val="80000"/>
                  </a:schemeClr>
                </a:solidFill>
                <a:latin typeface="Times New Roman" panose="02020603050405020304" charset="0"/>
              </a:rPr>
            </a:br>
            <a:br>
              <a:rPr lang="en-GB" sz="3200" dirty="0" smtClean="0">
                <a:solidFill>
                  <a:schemeClr val="bg2">
                    <a:lumMod val="20000"/>
                    <a:lumOff val="80000"/>
                  </a:schemeClr>
                </a:solidFill>
                <a:latin typeface="Times New Roman" panose="02020603050405020304" charset="0"/>
              </a:rPr>
            </a:br>
            <a:r>
              <a:rPr lang="en-GB" sz="3200" dirty="0" smtClean="0">
                <a:latin typeface="Times New Roman" panose="02020603050405020304" charset="0"/>
              </a:rPr>
              <a:t>Valery </a:t>
            </a:r>
            <a:r>
              <a:rPr lang="en-GB" sz="3200" dirty="0" err="1" smtClean="0">
                <a:latin typeface="Times New Roman" panose="02020603050405020304" charset="0"/>
              </a:rPr>
              <a:t>Taustsiakou</a:t>
            </a:r>
            <a:br>
              <a:rPr lang="en-GB" sz="2800" dirty="0"/>
            </a:br>
            <a:br>
              <a:rPr lang="en-GB" sz="2800" dirty="0"/>
            </a:br>
            <a:endParaRPr lang="en-GB" dirty="0"/>
          </a:p>
        </p:txBody>
      </p:sp>
      <p:pic>
        <p:nvPicPr>
          <p:cNvPr id="4" name="Picture 3"/>
          <p:cNvPicPr>
            <a:picLocks noChangeAspect="1"/>
          </p:cNvPicPr>
          <p:nvPr/>
        </p:nvPicPr>
        <p:blipFill>
          <a:blip r:embed="rId1"/>
          <a:stretch>
            <a:fillRect/>
          </a:stretch>
        </p:blipFill>
        <p:spPr>
          <a:xfrm>
            <a:off x="566839" y="4468090"/>
            <a:ext cx="3298579" cy="1728787"/>
          </a:xfrm>
          <a:prstGeom prst="rect">
            <a:avLst/>
          </a:prstGeom>
        </p:spPr>
      </p:pic>
      <p:sp>
        <p:nvSpPr>
          <p:cNvPr id="3" name="Slide Number Placeholder 2"/>
          <p:cNvSpPr>
            <a:spLocks noGrp="1"/>
          </p:cNvSpPr>
          <p:nvPr>
            <p:ph type="sldNum" sz="quarter" idx="12"/>
          </p:nvPr>
        </p:nvSpPr>
        <p:spPr/>
        <p:txBody>
          <a:bodyPr/>
          <a:lstStyle/>
          <a:p>
            <a:fld id="{605719FF-A8F7-43B6-AA52-F4FB8B1F7149}" type="slidenum">
              <a:rPr lang="en-GB" smtClean="0"/>
            </a:fld>
            <a:endParaRPr lang="en-GB"/>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6145" y="2672080"/>
            <a:ext cx="5434330" cy="314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875" y="289560"/>
            <a:ext cx="10113010" cy="979170"/>
          </a:xfrm>
        </p:spPr>
        <p:txBody>
          <a:bodyPr/>
          <a:lstStyle/>
          <a:p>
            <a:r>
              <a:rPr lang="en-GB" altLang="en-US" sz="3200" dirty="0">
                <a:solidFill>
                  <a:schemeClr val="bg2">
                    <a:lumMod val="20000"/>
                    <a:lumOff val="80000"/>
                  </a:schemeClr>
                </a:solidFill>
                <a:latin typeface="Times New Roman" panose="02020603050405020304" charset="0"/>
              </a:rPr>
              <a:t>Aims: </a:t>
            </a:r>
            <a:r>
              <a:rPr lang="en-GB" altLang="en-US" sz="3200" dirty="0" smtClean="0">
                <a:solidFill>
                  <a:schemeClr val="bg2">
                    <a:lumMod val="20000"/>
                    <a:lumOff val="80000"/>
                  </a:schemeClr>
                </a:solidFill>
                <a:latin typeface="Times New Roman" panose="02020603050405020304" charset="0"/>
              </a:rPr>
              <a:t>Diagnosis of viral infection </a:t>
            </a:r>
            <a:r>
              <a:rPr lang="en-GB" altLang="en-US" sz="3200" dirty="0">
                <a:solidFill>
                  <a:schemeClr val="bg2">
                    <a:lumMod val="20000"/>
                    <a:lumOff val="80000"/>
                  </a:schemeClr>
                </a:solidFill>
                <a:latin typeface="Times New Roman" panose="02020603050405020304" charset="0"/>
              </a:rPr>
              <a:t>and </a:t>
            </a:r>
            <a:r>
              <a:rPr lang="en-GB" altLang="en-US" sz="3200" dirty="0" smtClean="0">
                <a:solidFill>
                  <a:schemeClr val="bg2">
                    <a:lumMod val="20000"/>
                    <a:lumOff val="80000"/>
                  </a:schemeClr>
                </a:solidFill>
                <a:latin typeface="Times New Roman" panose="02020603050405020304" charset="0"/>
              </a:rPr>
              <a:t>immunity in paediatrics with serology panels of </a:t>
            </a:r>
            <a:r>
              <a:rPr lang="en-GB" altLang="en-US" sz="3200" dirty="0" err="1" smtClean="0">
                <a:solidFill>
                  <a:schemeClr val="bg2">
                    <a:lumMod val="20000"/>
                    <a:lumOff val="80000"/>
                  </a:schemeClr>
                </a:solidFill>
                <a:latin typeface="Times New Roman" panose="02020603050405020304" charset="0"/>
              </a:rPr>
              <a:t>IgM</a:t>
            </a:r>
            <a:r>
              <a:rPr lang="en-GB" altLang="en-US" sz="3200" dirty="0" smtClean="0">
                <a:solidFill>
                  <a:schemeClr val="bg2">
                    <a:lumMod val="20000"/>
                    <a:lumOff val="80000"/>
                  </a:schemeClr>
                </a:solidFill>
                <a:latin typeface="Times New Roman" panose="02020603050405020304" charset="0"/>
              </a:rPr>
              <a:t> and </a:t>
            </a:r>
            <a:r>
              <a:rPr lang="en-GB" altLang="en-US" sz="3200" dirty="0" err="1" smtClean="0">
                <a:solidFill>
                  <a:schemeClr val="bg2">
                    <a:lumMod val="20000"/>
                    <a:lumOff val="80000"/>
                  </a:schemeClr>
                </a:solidFill>
                <a:latin typeface="Times New Roman" panose="02020603050405020304" charset="0"/>
              </a:rPr>
              <a:t>IgG</a:t>
            </a:r>
            <a:r>
              <a:rPr lang="en-GB" altLang="en-US" sz="3200" dirty="0" smtClean="0">
                <a:solidFill>
                  <a:schemeClr val="bg2">
                    <a:lumMod val="20000"/>
                    <a:lumOff val="80000"/>
                  </a:schemeClr>
                </a:solidFill>
                <a:latin typeface="Times New Roman" panose="02020603050405020304" charset="0"/>
              </a:rPr>
              <a:t> </a:t>
            </a:r>
            <a:endParaRPr lang="en-GB" altLang="en-US" sz="3200" dirty="0" smtClean="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374015" y="1414780"/>
            <a:ext cx="11548110" cy="5160645"/>
          </a:xfrm>
        </p:spPr>
        <p:txBody>
          <a:bodyPr>
            <a:normAutofit lnSpcReduction="20000"/>
          </a:bodyPr>
          <a:lstStyle/>
          <a:p>
            <a:pPr>
              <a:buFont typeface="Wingdings" panose="05000000000000000000" charset="0"/>
              <a:buChar char=""/>
            </a:pPr>
            <a:r>
              <a:rPr lang="en-GB" sz="2400" dirty="0">
                <a:latin typeface="Times New Roman" panose="02020603050405020304" charset="0"/>
                <a:sym typeface="+mn-ea"/>
              </a:rPr>
              <a:t>First assays intended for implementation are the CMV, EBV,  Measles virus and Varicella Zoster Virus</a:t>
            </a:r>
            <a:endParaRPr lang="en-GB" sz="2800" dirty="0" smtClean="0">
              <a:latin typeface="Times New Roman" panose="02020603050405020304" charset="0"/>
              <a:sym typeface="+mn-ea"/>
            </a:endParaRPr>
          </a:p>
          <a:p>
            <a:pPr algn="l">
              <a:buFont typeface="Wingdings" panose="05000000000000000000" charset="0"/>
              <a:buChar char=""/>
            </a:pPr>
            <a:r>
              <a:rPr lang="en-GB" sz="2400" dirty="0" smtClean="0">
                <a:latin typeface="Times New Roman" panose="02020603050405020304" charset="0"/>
                <a:sym typeface="+mn-ea"/>
              </a:rPr>
              <a:t>Rapid </a:t>
            </a:r>
            <a:r>
              <a:rPr lang="en-GB" sz="2400" dirty="0">
                <a:latin typeface="Times New Roman" panose="02020603050405020304" charset="0"/>
                <a:sym typeface="+mn-ea"/>
              </a:rPr>
              <a:t>testing of measles </a:t>
            </a:r>
            <a:r>
              <a:rPr lang="en-GB" sz="2400" dirty="0" smtClean="0">
                <a:latin typeface="Times New Roman" panose="02020603050405020304" charset="0"/>
                <a:sym typeface="+mn-ea"/>
              </a:rPr>
              <a:t>immunity </a:t>
            </a:r>
            <a:r>
              <a:rPr lang="en-GB" sz="2400" dirty="0">
                <a:latin typeface="Times New Roman" panose="02020603050405020304" charset="0"/>
                <a:sym typeface="+mn-ea"/>
              </a:rPr>
              <a:t>to protect staff, at-risk infants and faster patient isolation. </a:t>
            </a:r>
            <a:endParaRPr lang="en-GB" sz="2400" dirty="0">
              <a:latin typeface="Times New Roman" panose="02020603050405020304" charset="0"/>
              <a:sym typeface="+mn-ea"/>
            </a:endParaRPr>
          </a:p>
          <a:p>
            <a:pPr algn="l">
              <a:buFont typeface="Wingdings" panose="05000000000000000000" charset="0"/>
              <a:buChar char=""/>
            </a:pPr>
            <a:r>
              <a:rPr lang="en-GB" sz="2400" dirty="0" smtClean="0">
                <a:latin typeface="Times New Roman" panose="02020603050405020304" charset="0"/>
                <a:sym typeface="+mn-ea"/>
              </a:rPr>
              <a:t>System suitable for small volume testing on-site</a:t>
            </a:r>
            <a:r>
              <a:rPr lang="en-GB" sz="2400" dirty="0">
                <a:latin typeface="Times New Roman" panose="02020603050405020304" charset="0"/>
                <a:sym typeface="+mn-ea"/>
              </a:rPr>
              <a:t> </a:t>
            </a:r>
            <a:r>
              <a:rPr lang="en-GB" sz="2400" dirty="0" smtClean="0">
                <a:latin typeface="Times New Roman" panose="02020603050405020304" charset="0"/>
                <a:sym typeface="+mn-ea"/>
              </a:rPr>
              <a:t>of plasma/ serum of the patient samples. </a:t>
            </a:r>
            <a:endParaRPr lang="en-GB" sz="2400" dirty="0" smtClean="0">
              <a:latin typeface="Times New Roman" panose="02020603050405020304" charset="0"/>
              <a:sym typeface="+mn-ea"/>
            </a:endParaRPr>
          </a:p>
          <a:p>
            <a:pPr algn="l">
              <a:buFont typeface="Wingdings" panose="05000000000000000000" charset="0"/>
              <a:buChar char=""/>
            </a:pPr>
            <a:r>
              <a:rPr lang="en-GB" sz="2400" dirty="0">
                <a:latin typeface="Times New Roman" panose="02020603050405020304" charset="0"/>
                <a:sym typeface="+mn-ea"/>
              </a:rPr>
              <a:t>At </a:t>
            </a:r>
            <a:r>
              <a:rPr lang="en-GB" sz="2400" dirty="0" smtClean="0">
                <a:latin typeface="Times New Roman" panose="02020603050405020304" charset="0"/>
                <a:sym typeface="+mn-ea"/>
              </a:rPr>
              <a:t>present </a:t>
            </a:r>
            <a:r>
              <a:rPr lang="en-GB" sz="2400" dirty="0">
                <a:latin typeface="Times New Roman" panose="02020603050405020304" charset="0"/>
                <a:sym typeface="+mn-ea"/>
              </a:rPr>
              <a:t>serology testing </a:t>
            </a:r>
            <a:r>
              <a:rPr lang="en-GB" sz="2400" dirty="0" smtClean="0">
                <a:latin typeface="Times New Roman" panose="02020603050405020304" charset="0"/>
                <a:sym typeface="+mn-ea"/>
              </a:rPr>
              <a:t>in TSCUH is carried out at the  NVRL.</a:t>
            </a:r>
            <a:endParaRPr lang="en-GB" sz="2400" dirty="0" smtClean="0">
              <a:latin typeface="Times New Roman" panose="02020603050405020304" charset="0"/>
              <a:sym typeface="+mn-ea"/>
            </a:endParaRPr>
          </a:p>
          <a:p>
            <a:pPr algn="l">
              <a:buFont typeface="Wingdings" panose="05000000000000000000" charset="0"/>
              <a:buChar char=""/>
            </a:pPr>
            <a:r>
              <a:rPr lang="en-GB" sz="2400" dirty="0" smtClean="0">
                <a:latin typeface="Times New Roman" panose="02020603050405020304" charset="0"/>
                <a:sym typeface="+mn-ea"/>
              </a:rPr>
              <a:t>With the Mini </a:t>
            </a:r>
            <a:r>
              <a:rPr lang="en-GB" sz="2400" dirty="0" err="1" smtClean="0">
                <a:latin typeface="Times New Roman" panose="02020603050405020304" charset="0"/>
                <a:sym typeface="+mn-ea"/>
              </a:rPr>
              <a:t>Vidas</a:t>
            </a:r>
            <a:r>
              <a:rPr lang="en-GB" sz="2400" dirty="0" smtClean="0">
                <a:latin typeface="Times New Roman" panose="02020603050405020304" charset="0"/>
                <a:sym typeface="+mn-ea"/>
              </a:rPr>
              <a:t> results will be available within </a:t>
            </a:r>
            <a:r>
              <a:rPr lang="en-GB" sz="2400" dirty="0">
                <a:latin typeface="Times New Roman" panose="02020603050405020304" charset="0"/>
                <a:sym typeface="+mn-ea"/>
              </a:rPr>
              <a:t>hours rather than days </a:t>
            </a:r>
            <a:r>
              <a:rPr lang="en-GB" sz="2400" dirty="0" smtClean="0">
                <a:latin typeface="Times New Roman" panose="02020603050405020304" charset="0"/>
                <a:sym typeface="+mn-ea"/>
              </a:rPr>
              <a:t>(Reduced Turnaround </a:t>
            </a:r>
            <a:r>
              <a:rPr lang="en-GB" sz="2400" dirty="0">
                <a:latin typeface="Times New Roman" panose="02020603050405020304" charset="0"/>
                <a:sym typeface="+mn-ea"/>
              </a:rPr>
              <a:t>time).</a:t>
            </a:r>
            <a:endParaRPr lang="en-GB" sz="2400" dirty="0">
              <a:latin typeface="Times New Roman" panose="02020603050405020304" charset="0"/>
              <a:sym typeface="+mn-ea"/>
            </a:endParaRPr>
          </a:p>
          <a:p>
            <a:pPr algn="l">
              <a:buFont typeface="Wingdings" panose="05000000000000000000" charset="0"/>
              <a:buChar char=""/>
            </a:pPr>
            <a:r>
              <a:rPr lang="en-GB" sz="2400" dirty="0" smtClean="0">
                <a:latin typeface="Times New Roman" panose="02020603050405020304" charset="0"/>
                <a:sym typeface="+mn-ea"/>
              </a:rPr>
              <a:t>Verification of measles </a:t>
            </a:r>
            <a:r>
              <a:rPr lang="en-GB" sz="2400" dirty="0" err="1">
                <a:latin typeface="Times New Roman" panose="02020603050405020304" charset="0"/>
                <a:sym typeface="+mn-ea"/>
              </a:rPr>
              <a:t>IgG</a:t>
            </a:r>
            <a:r>
              <a:rPr lang="en-GB" sz="2400" dirty="0">
                <a:latin typeface="Times New Roman" panose="02020603050405020304" charset="0"/>
                <a:sym typeface="+mn-ea"/>
              </a:rPr>
              <a:t> </a:t>
            </a:r>
            <a:r>
              <a:rPr lang="en-GB" sz="2400" dirty="0" smtClean="0">
                <a:latin typeface="Times New Roman" panose="02020603050405020304" charset="0"/>
                <a:sym typeface="+mn-ea"/>
              </a:rPr>
              <a:t>initially, due </a:t>
            </a:r>
            <a:r>
              <a:rPr lang="en-GB" sz="2400" dirty="0">
                <a:latin typeface="Times New Roman" panose="02020603050405020304" charset="0"/>
                <a:sym typeface="+mn-ea"/>
              </a:rPr>
              <a:t>to </a:t>
            </a:r>
            <a:r>
              <a:rPr lang="en-GB" sz="2400" dirty="0" smtClean="0">
                <a:latin typeface="Times New Roman" panose="02020603050405020304" charset="0"/>
                <a:sym typeface="+mn-ea"/>
              </a:rPr>
              <a:t>recent outbreaks </a:t>
            </a:r>
            <a:r>
              <a:rPr lang="en-GB" sz="2400" dirty="0">
                <a:latin typeface="Times New Roman" panose="02020603050405020304" charset="0"/>
                <a:sym typeface="+mn-ea"/>
              </a:rPr>
              <a:t>followed by </a:t>
            </a:r>
            <a:endParaRPr lang="en-GB" sz="2400" dirty="0">
              <a:latin typeface="Times New Roman" panose="02020603050405020304" charset="0"/>
              <a:sym typeface="+mn-ea"/>
            </a:endParaRPr>
          </a:p>
          <a:p>
            <a:pPr algn="l">
              <a:buFont typeface="Wingdings" panose="05000000000000000000" charset="0"/>
              <a:buChar char=""/>
            </a:pPr>
            <a:r>
              <a:rPr lang="en-GB" sz="2400" dirty="0" smtClean="0">
                <a:latin typeface="Times New Roman" panose="02020603050405020304" charset="0"/>
                <a:sym typeface="+mn-ea"/>
              </a:rPr>
              <a:t>	CMV , EBV and VZV</a:t>
            </a:r>
            <a:endParaRPr lang="en-GB" sz="2400" dirty="0" smtClean="0">
              <a:latin typeface="Times New Roman" panose="02020603050405020304" charset="0"/>
              <a:sym typeface="+mn-ea"/>
            </a:endParaRPr>
          </a:p>
          <a:p>
            <a:pPr>
              <a:buFont typeface="Wingdings" panose="05000000000000000000" charset="0"/>
              <a:buChar char=""/>
            </a:pPr>
            <a:r>
              <a:rPr lang="en-GB" sz="2400" dirty="0" smtClean="0">
                <a:latin typeface="Times New Roman" panose="02020603050405020304" charset="0"/>
                <a:sym typeface="+mn-ea"/>
              </a:rPr>
              <a:t>Other assays available HIV</a:t>
            </a:r>
            <a:r>
              <a:rPr lang="en-GB" sz="2400" dirty="0">
                <a:latin typeface="Times New Roman" panose="02020603050405020304" charset="0"/>
                <a:sym typeface="+mn-ea"/>
              </a:rPr>
              <a:t>, Varicella, Rubella, </a:t>
            </a:r>
            <a:r>
              <a:rPr lang="en-GB" sz="2400" dirty="0" err="1">
                <a:latin typeface="Times New Roman" panose="02020603050405020304" charset="0"/>
                <a:sym typeface="+mn-ea"/>
              </a:rPr>
              <a:t>Taxoplasmosis</a:t>
            </a:r>
            <a:r>
              <a:rPr lang="en-GB" sz="2400" dirty="0">
                <a:latin typeface="Times New Roman" panose="02020603050405020304" charset="0"/>
                <a:sym typeface="+mn-ea"/>
              </a:rPr>
              <a:t>, Hepatitis A/B/C, Procalcitonin. </a:t>
            </a:r>
            <a:endParaRPr lang="en-GB" sz="2400" dirty="0">
              <a:latin typeface="Times New Roman" panose="02020603050405020304" charset="0"/>
              <a:sym typeface="+mn-ea"/>
            </a:endParaRPr>
          </a:p>
          <a:p>
            <a:pPr algn="l">
              <a:buFont typeface="Wingdings" panose="05000000000000000000" charset="0"/>
              <a:buChar char=""/>
            </a:pPr>
            <a:endParaRPr lang="en-GB" sz="2800" dirty="0">
              <a:latin typeface="Times New Roman" panose="02020603050405020304" charset="0"/>
              <a:sym typeface="+mn-ea"/>
            </a:endParaRPr>
          </a:p>
          <a:p>
            <a:pPr algn="l">
              <a:buFont typeface="Arial" panose="020B0604020202020204" pitchFamily="34" charset="0"/>
              <a:buChar char="•"/>
            </a:pPr>
            <a:endParaRPr lang="en-GB" dirty="0">
              <a:latin typeface="Times New Roman" panose="02020603050405020304" charset="0"/>
            </a:endParaRPr>
          </a:p>
          <a:p>
            <a:pPr marL="342900" indent="-342900" algn="l">
              <a:buFont typeface="Arial" panose="020B0604020202020204" pitchFamily="34" charset="0"/>
              <a:buChar char="•"/>
            </a:pPr>
            <a:endParaRPr lang="en-GB" altLang="en-US" dirty="0"/>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25145" y="295910"/>
            <a:ext cx="9827260" cy="902970"/>
          </a:xfrm>
        </p:spPr>
        <p:txBody>
          <a:bodyPr/>
          <a:p>
            <a:r>
              <a:rPr lang="en-GB" altLang="en-US" sz="3200">
                <a:solidFill>
                  <a:schemeClr val="bg2">
                    <a:lumMod val="20000"/>
                    <a:lumOff val="80000"/>
                  </a:schemeClr>
                </a:solidFill>
                <a:latin typeface="Times New Roman" panose="02020603050405020304" charset="0"/>
              </a:rPr>
              <a:t>Non-culture methods of diagnostics: </a:t>
            </a:r>
            <a:endParaRPr lang="en-GB" altLang="en-US" sz="320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740410" y="908050"/>
            <a:ext cx="10450195" cy="5041900"/>
          </a:xfrm>
        </p:spPr>
        <p:txBody>
          <a:bodyPr>
            <a:noAutofit/>
          </a:bodyPr>
          <a:p>
            <a:r>
              <a:rPr lang="en-GB" altLang="en-US" sz="2400">
                <a:latin typeface="Times New Roman" panose="02020603050405020304" charset="0"/>
              </a:rPr>
              <a:t>Serology is the Ag/Ab reaction in-vitro. </a:t>
            </a:r>
            <a:endParaRPr lang="en-GB" altLang="en-US" sz="2400">
              <a:latin typeface="Times New Roman" panose="02020603050405020304" charset="0"/>
            </a:endParaRPr>
          </a:p>
          <a:p>
            <a:pPr marL="0" indent="0">
              <a:buNone/>
            </a:pPr>
            <a:endParaRPr lang="en-GB" altLang="en-US" sz="2400">
              <a:latin typeface="Times New Roman" panose="02020603050405020304" charset="0"/>
            </a:endParaRPr>
          </a:p>
          <a:p>
            <a:r>
              <a:rPr lang="en-GB" altLang="en-US" sz="2400">
                <a:latin typeface="Times New Roman" panose="02020603050405020304" charset="0"/>
              </a:rPr>
              <a:t>The precence of Abs indicates a recent or previous infection. </a:t>
            </a:r>
            <a:endParaRPr lang="en-GB" altLang="en-US" sz="2400">
              <a:latin typeface="Times New Roman" panose="02020603050405020304" charset="0"/>
            </a:endParaRPr>
          </a:p>
          <a:p>
            <a:endParaRPr lang="en-GB" altLang="en-US" sz="2400">
              <a:latin typeface="Times New Roman" panose="02020603050405020304" charset="0"/>
            </a:endParaRPr>
          </a:p>
          <a:p>
            <a:r>
              <a:rPr lang="en-GB" altLang="en-US" sz="2400">
                <a:latin typeface="Times New Roman" panose="02020603050405020304" charset="0"/>
              </a:rPr>
              <a:t>An antibody is a chemical structure made up of amino acids, conservative heavy chains and recombinant light chains that vary by B-cell production of different antibodies (Various chemistry of amino acids).</a:t>
            </a:r>
            <a:endParaRPr lang="en-GB" altLang="en-US" sz="2400">
              <a:latin typeface="Times New Roman" panose="02020603050405020304" charset="0"/>
            </a:endParaRPr>
          </a:p>
          <a:p>
            <a:endParaRPr lang="en-GB" altLang="en-US" sz="2400">
              <a:latin typeface="Times New Roman" panose="02020603050405020304" charset="0"/>
            </a:endParaRPr>
          </a:p>
          <a:p>
            <a:r>
              <a:rPr lang="en-GB" altLang="en-US" sz="2400">
                <a:latin typeface="Times New Roman" panose="02020603050405020304" charset="0"/>
              </a:rPr>
              <a:t>HIV depletes the T-cells needed to present those antigens to the B-lymphocytes that produce the antibodies. </a:t>
            </a:r>
            <a:endParaRPr lang="en-GB" altLang="en-US" sz="2400">
              <a:latin typeface="Times New Roman" panose="02020603050405020304" charset="0"/>
            </a:endParaRPr>
          </a:p>
          <a:p>
            <a:r>
              <a:rPr lang="en-GB" altLang="en-US" sz="2400">
                <a:latin typeface="Times New Roman" panose="02020603050405020304" charset="0"/>
              </a:rPr>
              <a:t>Vidas assay of HIV-1 and HIV-2 Abs, HIV-1 Ag and p24 Ag. Mean period of 3 weeks between contamination and the appearance of the first anti-HIV serum antibodies.</a:t>
            </a:r>
            <a:endParaRPr lang="en-GB" altLang="en-US" sz="2400">
              <a:latin typeface="Times New Roman" panose="02020603050405020304" charset="0"/>
            </a:endParaRPr>
          </a:p>
          <a:p>
            <a:endParaRPr lang="en-GB" altLang="en-US" sz="2400">
              <a:latin typeface="Times New Roman" panose="02020603050405020304" charset="0"/>
            </a:endParaRPr>
          </a:p>
        </p:txBody>
      </p:sp>
      <p:sp>
        <p:nvSpPr>
          <p:cNvPr id="4" name="Slide Number Placeholder 3"/>
          <p:cNvSpPr>
            <a:spLocks noGrp="1"/>
          </p:cNvSpPr>
          <p:nvPr>
            <p:ph type="sldNum" sz="quarter" idx="12"/>
          </p:nvPr>
        </p:nvSpPr>
        <p:spPr/>
        <p:txBody>
          <a:bodyPr/>
          <a:p>
            <a:fld id="{605719FF-A8F7-43B6-AA52-F4FB8B1F7149}" type="slidenum">
              <a:rPr lang="en-GB" smtClean="0"/>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 y="125730"/>
            <a:ext cx="9878060" cy="1328420"/>
          </a:xfrm>
        </p:spPr>
        <p:txBody>
          <a:bodyPr/>
          <a:lstStyle/>
          <a:p>
            <a:r>
              <a:rPr lang="en-GB" sz="3200" dirty="0">
                <a:solidFill>
                  <a:schemeClr val="bg2">
                    <a:lumMod val="20000"/>
                    <a:lumOff val="80000"/>
                  </a:schemeClr>
                </a:solidFill>
                <a:latin typeface="Times New Roman" panose="02020603050405020304" charset="0"/>
              </a:rPr>
              <a:t>Cytomegalovirus (CMV)- Betaherpesvirinae subfamily, Herpesviridae</a:t>
            </a:r>
            <a:endParaRPr lang="en-GB" sz="3200" dirty="0">
              <a:solidFill>
                <a:schemeClr val="bg2">
                  <a:lumMod val="20000"/>
                  <a:lumOff val="80000"/>
                </a:schemeClr>
              </a:solidFill>
              <a:latin typeface="Times New Roman" panose="02020603050405020304" charset="0"/>
            </a:endParaRPr>
          </a:p>
        </p:txBody>
      </p:sp>
      <p:sp>
        <p:nvSpPr>
          <p:cNvPr id="3" name="Content Placeholder 2"/>
          <p:cNvSpPr>
            <a:spLocks noGrp="1"/>
          </p:cNvSpPr>
          <p:nvPr>
            <p:ph sz="half" idx="1"/>
          </p:nvPr>
        </p:nvSpPr>
        <p:spPr>
          <a:xfrm>
            <a:off x="645160" y="1207135"/>
            <a:ext cx="10901045" cy="4985385"/>
          </a:xfrm>
        </p:spPr>
        <p:txBody>
          <a:bodyPr>
            <a:noAutofit/>
          </a:bodyPr>
          <a:lstStyle/>
          <a:p>
            <a:pPr>
              <a:buFont typeface="Wingdings" panose="05000000000000000000" charset="0"/>
              <a:buChar char=""/>
            </a:pPr>
            <a:r>
              <a:rPr lang="en-GB" sz="2000" dirty="0">
                <a:latin typeface="Times New Roman" panose="02020603050405020304" charset="0"/>
              </a:rPr>
              <a:t>CMV is a common </a:t>
            </a:r>
            <a:r>
              <a:rPr lang="en-GB" sz="2000" dirty="0" smtClean="0">
                <a:latin typeface="Times New Roman" panose="02020603050405020304" charset="0"/>
              </a:rPr>
              <a:t>virus  </a:t>
            </a:r>
            <a:r>
              <a:rPr lang="en-GB" sz="2000" dirty="0">
                <a:latin typeface="Times New Roman" panose="02020603050405020304" charset="0"/>
              </a:rPr>
              <a:t>that </a:t>
            </a:r>
            <a:r>
              <a:rPr lang="en-GB" sz="2000" dirty="0" smtClean="0">
                <a:latin typeface="Times New Roman" panose="02020603050405020304" charset="0"/>
              </a:rPr>
              <a:t>rarely causes problems in healthy individuals. </a:t>
            </a:r>
            <a:endParaRPr lang="en-GB" sz="2000" dirty="0" smtClean="0">
              <a:latin typeface="Times New Roman" panose="02020603050405020304" charset="0"/>
            </a:endParaRPr>
          </a:p>
          <a:p>
            <a:pPr>
              <a:buFont typeface="Wingdings" panose="05000000000000000000" charset="0"/>
              <a:buChar char=""/>
            </a:pPr>
            <a:r>
              <a:rPr lang="en-GB" sz="2000" dirty="0" smtClean="0">
                <a:latin typeface="Times New Roman" panose="02020603050405020304" charset="0"/>
              </a:rPr>
              <a:t>It </a:t>
            </a:r>
            <a:r>
              <a:rPr lang="en-GB" sz="2000" dirty="0">
                <a:latin typeface="Times New Roman" panose="02020603050405020304" charset="0"/>
              </a:rPr>
              <a:t>can cause serious disease in </a:t>
            </a:r>
            <a:r>
              <a:rPr lang="en-GB" sz="2000" dirty="0" err="1">
                <a:latin typeface="Times New Roman" panose="02020603050405020304" charset="0"/>
              </a:rPr>
              <a:t>immunocompromised</a:t>
            </a:r>
            <a:r>
              <a:rPr lang="en-GB" sz="2000" dirty="0">
                <a:latin typeface="Times New Roman" panose="02020603050405020304" charset="0"/>
              </a:rPr>
              <a:t> </a:t>
            </a:r>
            <a:r>
              <a:rPr lang="en-GB" sz="2000" dirty="0" smtClean="0">
                <a:latin typeface="Times New Roman" panose="02020603050405020304" charset="0"/>
              </a:rPr>
              <a:t>patients .</a:t>
            </a:r>
            <a:endParaRPr lang="en-GB" sz="2000" dirty="0" smtClean="0">
              <a:latin typeface="Times New Roman" panose="02020603050405020304" charset="0"/>
            </a:endParaRPr>
          </a:p>
          <a:p>
            <a:pPr>
              <a:buFont typeface="Wingdings" panose="05000000000000000000" charset="0"/>
              <a:buChar char=""/>
            </a:pPr>
            <a:r>
              <a:rPr lang="en-GB" sz="2000" dirty="0" smtClean="0">
                <a:latin typeface="Times New Roman" panose="02020603050405020304" charset="0"/>
              </a:rPr>
              <a:t>Women who develop active infection during pregnancy can pass the virus onto  baby, with </a:t>
            </a:r>
            <a:r>
              <a:rPr lang="en-GB" sz="2000" dirty="0">
                <a:latin typeface="Times New Roman" panose="02020603050405020304" charset="0"/>
              </a:rPr>
              <a:t>10-15 % of neonates indicating clinical signs. </a:t>
            </a:r>
            <a:endParaRPr lang="en-GB" sz="2000" dirty="0" smtClean="0">
              <a:latin typeface="Times New Roman" panose="02020603050405020304" charset="0"/>
            </a:endParaRPr>
          </a:p>
          <a:p>
            <a:pPr>
              <a:buFont typeface="Wingdings" panose="05000000000000000000" charset="0"/>
              <a:buChar char=""/>
            </a:pPr>
            <a:r>
              <a:rPr lang="en-GB" sz="2000" dirty="0" smtClean="0">
                <a:latin typeface="Times New Roman" panose="02020603050405020304" charset="0"/>
              </a:rPr>
              <a:t>Potential </a:t>
            </a:r>
            <a:r>
              <a:rPr lang="en-GB" sz="2000" dirty="0">
                <a:latin typeface="Times New Roman" panose="02020603050405020304" charset="0"/>
              </a:rPr>
              <a:t>hearing, eyesight, motor and overall neural impairment. </a:t>
            </a:r>
            <a:endParaRPr lang="en-GB" sz="2000" dirty="0">
              <a:latin typeface="Times New Roman" panose="02020603050405020304" charset="0"/>
            </a:endParaRPr>
          </a:p>
          <a:p>
            <a:pPr>
              <a:buFont typeface="Wingdings" panose="05000000000000000000" charset="0"/>
              <a:buChar char=""/>
            </a:pPr>
            <a:r>
              <a:rPr lang="en-GB" sz="2000" dirty="0" smtClean="0">
                <a:latin typeface="Times New Roman" panose="02020603050405020304" charset="0"/>
              </a:rPr>
              <a:t>Intrauterine </a:t>
            </a:r>
            <a:r>
              <a:rPr lang="en-GB" sz="2000" dirty="0">
                <a:latin typeface="Times New Roman" panose="02020603050405020304" charset="0"/>
              </a:rPr>
              <a:t>growth retardation = premature birth: jaundice.</a:t>
            </a:r>
            <a:endParaRPr lang="en-GB" sz="2000" dirty="0">
              <a:latin typeface="Times New Roman" panose="02020603050405020304" charset="0"/>
            </a:endParaRPr>
          </a:p>
          <a:p>
            <a:pPr>
              <a:buNone/>
            </a:pPr>
            <a:r>
              <a:rPr lang="en-GB" sz="2000" dirty="0" smtClean="0">
                <a:latin typeface="Times New Roman" panose="02020603050405020304" charset="0"/>
              </a:rPr>
              <a:t>Neonatal clinical signs: </a:t>
            </a:r>
            <a:endParaRPr lang="en-GB" sz="2000" dirty="0">
              <a:latin typeface="Times New Roman" panose="02020603050405020304" charset="0"/>
            </a:endParaRPr>
          </a:p>
          <a:p>
            <a:pPr marL="457200" lvl="1" indent="0">
              <a:buNone/>
            </a:pPr>
            <a:r>
              <a:rPr lang="en-GB" sz="2000" dirty="0">
                <a:latin typeface="Times New Roman" panose="02020603050405020304" charset="0"/>
              </a:rPr>
              <a:t>-</a:t>
            </a:r>
            <a:r>
              <a:rPr lang="en-GB" sz="2000" dirty="0" smtClean="0">
                <a:latin typeface="Times New Roman" panose="02020603050405020304" charset="0"/>
              </a:rPr>
              <a:t>Microcephaly						-Lung problems			</a:t>
            </a:r>
            <a:endParaRPr lang="en-GB" sz="2000" dirty="0">
              <a:latin typeface="Times New Roman" panose="02020603050405020304" charset="0"/>
            </a:endParaRPr>
          </a:p>
          <a:p>
            <a:pPr marL="0" indent="0">
              <a:buNone/>
            </a:pPr>
            <a:r>
              <a:rPr lang="en-GB" sz="2000" dirty="0" smtClean="0">
                <a:latin typeface="Times New Roman" panose="02020603050405020304" charset="0"/>
              </a:rPr>
              <a:t>	-</a:t>
            </a:r>
            <a:r>
              <a:rPr lang="en-GB" sz="2000" dirty="0" err="1" smtClean="0">
                <a:solidFill>
                  <a:schemeClr val="accent4"/>
                </a:solidFill>
                <a:latin typeface="Times New Roman" panose="02020603050405020304" charset="0"/>
              </a:rPr>
              <a:t>hepatosplenomegaly</a:t>
            </a:r>
            <a:r>
              <a:rPr lang="en-GB" sz="2000" dirty="0" smtClean="0">
                <a:latin typeface="Times New Roman" panose="02020603050405020304" charset="0"/>
              </a:rPr>
              <a:t>				-Seizures</a:t>
            </a:r>
            <a:endParaRPr lang="en-GB" sz="2000" dirty="0">
              <a:latin typeface="Times New Roman" panose="02020603050405020304" charset="0"/>
            </a:endParaRPr>
          </a:p>
          <a:p>
            <a:pPr marL="0" indent="0">
              <a:buNone/>
            </a:pPr>
            <a:r>
              <a:rPr lang="en-GB" sz="2000" dirty="0">
                <a:latin typeface="Times New Roman" panose="02020603050405020304" charset="0"/>
              </a:rPr>
              <a:t>	</a:t>
            </a:r>
            <a:r>
              <a:rPr lang="en-GB" sz="2000" dirty="0" smtClean="0">
                <a:latin typeface="Times New Roman" panose="02020603050405020304" charset="0"/>
              </a:rPr>
              <a:t>-</a:t>
            </a:r>
            <a:r>
              <a:rPr lang="en-GB" sz="2000" dirty="0" err="1" smtClean="0">
                <a:solidFill>
                  <a:schemeClr val="accent4"/>
                </a:solidFill>
                <a:latin typeface="Times New Roman" panose="02020603050405020304" charset="0"/>
              </a:rPr>
              <a:t>petechia</a:t>
            </a:r>
            <a:r>
              <a:rPr lang="en-GB" sz="2000" dirty="0" smtClean="0">
                <a:latin typeface="Times New Roman" panose="02020603050405020304" charset="0"/>
              </a:rPr>
              <a:t>- </a:t>
            </a:r>
            <a:r>
              <a:rPr lang="en-GB" sz="2000" dirty="0">
                <a:latin typeface="Times New Roman" panose="02020603050405020304" charset="0"/>
              </a:rPr>
              <a:t>purple </a:t>
            </a:r>
            <a:r>
              <a:rPr lang="en-GB" sz="2000" dirty="0" smtClean="0">
                <a:latin typeface="Times New Roman" panose="02020603050405020304" charset="0"/>
              </a:rPr>
              <a:t>spots				- Mental disability</a:t>
            </a:r>
            <a:endParaRPr lang="en-GB" sz="2000" dirty="0" smtClean="0">
              <a:latin typeface="Times New Roman" panose="02020603050405020304" charset="0"/>
            </a:endParaRPr>
          </a:p>
          <a:p>
            <a:pPr marL="0" indent="0">
              <a:buNone/>
            </a:pPr>
            <a:r>
              <a:rPr lang="en-GB" sz="2000" dirty="0">
                <a:latin typeface="Times New Roman" panose="02020603050405020304" charset="0"/>
              </a:rPr>
              <a:t>	</a:t>
            </a:r>
            <a:r>
              <a:rPr lang="en-GB" sz="2000" dirty="0" smtClean="0">
                <a:latin typeface="Times New Roman" panose="02020603050405020304" charset="0"/>
              </a:rPr>
              <a:t>-jaundice</a:t>
            </a:r>
            <a:endParaRPr lang="en-GB" sz="2000" dirty="0" smtClean="0">
              <a:latin typeface="Times New Roman" panose="02020603050405020304" charset="0"/>
            </a:endParaRPr>
          </a:p>
          <a:p>
            <a:pPr marL="0" indent="0">
              <a:buNone/>
            </a:pPr>
            <a:r>
              <a:rPr lang="en-GB" sz="2000" dirty="0" smtClean="0">
                <a:latin typeface="Times New Roman" panose="02020603050405020304" charset="0"/>
              </a:rPr>
              <a:t>	-Premature birth of unknown aetiology</a:t>
            </a:r>
            <a:endParaRPr lang="en-GB" sz="2000" dirty="0">
              <a:latin typeface="Times New Roman" panose="02020603050405020304" charset="0"/>
            </a:endParaRPr>
          </a:p>
          <a:p>
            <a:pPr>
              <a:buFont typeface="Wingdings" panose="05000000000000000000" charset="0"/>
              <a:buChar char=""/>
            </a:pPr>
            <a:r>
              <a:rPr lang="en-GB" sz="2000" dirty="0" smtClean="0">
                <a:latin typeface="Times New Roman" panose="02020603050405020304" charset="0"/>
              </a:rPr>
              <a:t>Can be fatal to patents with AIDS </a:t>
            </a:r>
            <a:r>
              <a:rPr lang="en-GB" sz="2000" dirty="0">
                <a:latin typeface="Times New Roman" panose="02020603050405020304" charset="0"/>
              </a:rPr>
              <a:t>and </a:t>
            </a:r>
            <a:r>
              <a:rPr lang="en-GB" sz="2000" dirty="0" smtClean="0">
                <a:latin typeface="Times New Roman" panose="02020603050405020304" charset="0"/>
              </a:rPr>
              <a:t>post-transplant </a:t>
            </a:r>
            <a:r>
              <a:rPr lang="en-GB" sz="2000" dirty="0">
                <a:latin typeface="Times New Roman" panose="02020603050405020304" charset="0"/>
              </a:rPr>
              <a:t>patients</a:t>
            </a:r>
            <a:r>
              <a:rPr lang="en-GB" sz="2000" dirty="0" smtClean="0">
                <a:latin typeface="Times New Roman" panose="02020603050405020304" charset="0"/>
              </a:rPr>
              <a:t>.</a:t>
            </a:r>
            <a:endParaRPr lang="en-GB" sz="2000" dirty="0">
              <a:latin typeface="Times New Roman" panose="02020603050405020304" charset="0"/>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76" y="120651"/>
            <a:ext cx="11435369" cy="849168"/>
          </a:xfrm>
        </p:spPr>
        <p:txBody>
          <a:bodyPr/>
          <a:lstStyle/>
          <a:p>
            <a:r>
              <a:rPr lang="en-GB" sz="3200" dirty="0" smtClean="0">
                <a:solidFill>
                  <a:schemeClr val="bg2">
                    <a:lumMod val="20000"/>
                    <a:lumOff val="80000"/>
                  </a:schemeClr>
                </a:solidFill>
                <a:latin typeface="Times New Roman" panose="02020603050405020304" charset="0"/>
              </a:rPr>
              <a:t>EBV-</a:t>
            </a:r>
            <a:r>
              <a:rPr lang="en-IE" sz="3200" dirty="0" err="1" smtClean="0">
                <a:solidFill>
                  <a:schemeClr val="bg2">
                    <a:lumMod val="20000"/>
                    <a:lumOff val="80000"/>
                  </a:schemeClr>
                </a:solidFill>
                <a:latin typeface="Times New Roman" panose="02020603050405020304" charset="0"/>
              </a:rPr>
              <a:t>gammaherpesvirus</a:t>
            </a:r>
            <a:r>
              <a:rPr lang="en-GB" sz="3200" dirty="0" smtClean="0">
                <a:solidFill>
                  <a:schemeClr val="bg2">
                    <a:lumMod val="20000"/>
                    <a:lumOff val="80000"/>
                  </a:schemeClr>
                </a:solidFill>
                <a:latin typeface="Times New Roman" panose="02020603050405020304" charset="0"/>
              </a:rPr>
              <a:t> </a:t>
            </a:r>
            <a:endParaRPr lang="en-GB" sz="3200" dirty="0" smtClean="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301163" y="956194"/>
            <a:ext cx="11120755" cy="3121025"/>
          </a:xfrm>
        </p:spPr>
        <p:txBody>
          <a:bodyPr>
            <a:noAutofit/>
          </a:bodyPr>
          <a:lstStyle/>
          <a:p>
            <a:endParaRPr lang="en-IE" sz="1800" dirty="0" smtClean="0"/>
          </a:p>
          <a:p>
            <a:r>
              <a:rPr lang="en-IE" dirty="0" smtClean="0">
                <a:latin typeface="Times New Roman" panose="02020603050405020304" charset="0"/>
              </a:rPr>
              <a:t>CDC: Epstein-Barr </a:t>
            </a:r>
            <a:r>
              <a:rPr lang="en-IE" dirty="0">
                <a:latin typeface="Times New Roman" panose="02020603050405020304" charset="0"/>
              </a:rPr>
              <a:t>virus (EBV), also known as human </a:t>
            </a:r>
            <a:r>
              <a:rPr lang="en-IE" dirty="0" smtClean="0">
                <a:latin typeface="Times New Roman" panose="02020603050405020304" charset="0"/>
              </a:rPr>
              <a:t>herpes virus </a:t>
            </a:r>
            <a:r>
              <a:rPr lang="en-IE" dirty="0">
                <a:latin typeface="Times New Roman" panose="02020603050405020304" charset="0"/>
              </a:rPr>
              <a:t>4, is a member of the herpes virus family. </a:t>
            </a:r>
            <a:r>
              <a:rPr lang="en-IE" dirty="0" smtClean="0">
                <a:latin typeface="Times New Roman" panose="02020603050405020304" charset="0"/>
              </a:rPr>
              <a:t>One of the common </a:t>
            </a:r>
            <a:r>
              <a:rPr lang="en-IE" dirty="0">
                <a:latin typeface="Times New Roman" panose="02020603050405020304" charset="0"/>
              </a:rPr>
              <a:t>human </a:t>
            </a:r>
            <a:r>
              <a:rPr lang="en-IE" dirty="0" smtClean="0">
                <a:latin typeface="Times New Roman" panose="02020603050405020304" charset="0"/>
              </a:rPr>
              <a:t>viruses. </a:t>
            </a:r>
            <a:r>
              <a:rPr lang="en-IE" dirty="0">
                <a:latin typeface="Times New Roman" panose="02020603050405020304" charset="0"/>
              </a:rPr>
              <a:t>EBV spreads most commonly through bodily fluids, primarily saliva. EBV can cause </a:t>
            </a:r>
            <a:r>
              <a:rPr lang="en-IE" u="sng" dirty="0">
                <a:latin typeface="Times New Roman" panose="02020603050405020304" charset="0"/>
                <a:hlinkClick r:id="rId1"/>
              </a:rPr>
              <a:t>infectious mononucleosis</a:t>
            </a:r>
            <a:r>
              <a:rPr lang="en-IE" dirty="0">
                <a:latin typeface="Times New Roman" panose="02020603050405020304" charset="0"/>
              </a:rPr>
              <a:t>, also called mono, and other illnesses</a:t>
            </a:r>
            <a:r>
              <a:rPr lang="en-IE" dirty="0" smtClean="0">
                <a:latin typeface="Times New Roman" panose="02020603050405020304" charset="0"/>
              </a:rPr>
              <a:t>. </a:t>
            </a:r>
            <a:endParaRPr lang="en-IE" dirty="0" smtClean="0">
              <a:latin typeface="Times New Roman" panose="02020603050405020304" charset="0"/>
            </a:endParaRPr>
          </a:p>
          <a:p>
            <a:endParaRPr lang="en-IE" sz="1800" dirty="0" smtClean="0">
              <a:latin typeface="Times New Roman" panose="02020603050405020304" charset="0"/>
              <a:sym typeface="+mn-ea"/>
            </a:endParaRPr>
          </a:p>
          <a:p>
            <a:r>
              <a:rPr lang="en-GB" dirty="0" smtClean="0">
                <a:latin typeface="Times New Roman" panose="02020603050405020304" charset="0"/>
                <a:sym typeface="+mn-ea"/>
              </a:rPr>
              <a:t>Neonatal/ Infant clinical symptoms: </a:t>
            </a:r>
            <a:endParaRPr lang="en-GB" dirty="0" smtClean="0">
              <a:latin typeface="Times New Roman" panose="02020603050405020304" charset="0"/>
              <a:sym typeface="+mn-ea"/>
            </a:endParaRPr>
          </a:p>
          <a:p>
            <a:pPr marL="0" indent="0">
              <a:buNone/>
            </a:pPr>
            <a:r>
              <a:rPr lang="en-IE" dirty="0" smtClean="0">
                <a:latin typeface="Times New Roman" panose="02020603050405020304" charset="0"/>
              </a:rPr>
              <a:t>	-fatigue</a:t>
            </a:r>
            <a:r>
              <a:rPr lang="en-IE" dirty="0">
                <a:latin typeface="Times New Roman" panose="02020603050405020304" charset="0"/>
              </a:rPr>
              <a:t>	</a:t>
            </a:r>
            <a:r>
              <a:rPr lang="en-IE" dirty="0" smtClean="0">
                <a:latin typeface="Times New Roman" panose="02020603050405020304" charset="0"/>
              </a:rPr>
              <a:t>		-fever</a:t>
            </a:r>
            <a:r>
              <a:rPr lang="en-IE" dirty="0">
                <a:latin typeface="Times New Roman" panose="02020603050405020304" charset="0"/>
              </a:rPr>
              <a:t>	</a:t>
            </a:r>
            <a:r>
              <a:rPr lang="en-IE" dirty="0" smtClean="0">
                <a:latin typeface="Times New Roman" panose="02020603050405020304" charset="0"/>
              </a:rPr>
              <a:t>		- inflamed throat		-swollen </a:t>
            </a:r>
            <a:r>
              <a:rPr lang="en-IE" dirty="0">
                <a:latin typeface="Times New Roman" panose="02020603050405020304" charset="0"/>
              </a:rPr>
              <a:t>lymph nodes in the neck</a:t>
            </a:r>
            <a:endParaRPr lang="en-IE" dirty="0">
              <a:latin typeface="Times New Roman" panose="02020603050405020304" charset="0"/>
            </a:endParaRPr>
          </a:p>
          <a:p>
            <a:pPr marL="0" indent="0">
              <a:buNone/>
            </a:pPr>
            <a:r>
              <a:rPr lang="en-IE" dirty="0" smtClean="0">
                <a:latin typeface="Times New Roman" panose="02020603050405020304" charset="0"/>
              </a:rPr>
              <a:t>	-enlarged spleen w/ possible rupture		-swollen liver		-rash</a:t>
            </a:r>
            <a:endParaRPr lang="en-IE" dirty="0" smtClean="0">
              <a:latin typeface="Times New Roman" panose="02020603050405020304" charset="0"/>
            </a:endParaRPr>
          </a:p>
          <a:p>
            <a:pPr marL="0" indent="0">
              <a:buNone/>
            </a:pPr>
            <a:r>
              <a:rPr lang="en-IE" dirty="0" smtClean="0">
                <a:latin typeface="Times New Roman" panose="02020603050405020304" charset="0"/>
              </a:rPr>
              <a:t>	-Ear </a:t>
            </a:r>
            <a:r>
              <a:rPr lang="en-IE" dirty="0">
                <a:latin typeface="Times New Roman" panose="02020603050405020304" charset="0"/>
              </a:rPr>
              <a:t>infections and diarrhoea in </a:t>
            </a:r>
            <a:r>
              <a:rPr lang="en-IE" dirty="0" smtClean="0">
                <a:latin typeface="Times New Roman" panose="02020603050405020304" charset="0"/>
              </a:rPr>
              <a:t>children		-Guillain-Barre syndrome</a:t>
            </a:r>
            <a:endParaRPr lang="en-IE" dirty="0" smtClean="0">
              <a:latin typeface="Times New Roman" panose="02020603050405020304" charset="0"/>
            </a:endParaRPr>
          </a:p>
          <a:p>
            <a:endParaRPr lang="en-IE" sz="1800" dirty="0" smtClean="0">
              <a:latin typeface="Times New Roman" panose="02020603050405020304" charset="0"/>
            </a:endParaRPr>
          </a:p>
          <a:p>
            <a:r>
              <a:rPr lang="en-IE" dirty="0" smtClean="0">
                <a:latin typeface="Times New Roman" panose="02020603050405020304" charset="0"/>
              </a:rPr>
              <a:t>Can cause certain </a:t>
            </a:r>
            <a:r>
              <a:rPr lang="en-IE" dirty="0">
                <a:latin typeface="Times New Roman" panose="02020603050405020304" charset="0"/>
              </a:rPr>
              <a:t>cancers, including </a:t>
            </a:r>
            <a:r>
              <a:rPr lang="en-IE" dirty="0" err="1">
                <a:latin typeface="Times New Roman" panose="02020603050405020304" charset="0"/>
              </a:rPr>
              <a:t>Burkitt's</a:t>
            </a:r>
            <a:r>
              <a:rPr lang="en-IE" dirty="0">
                <a:latin typeface="Times New Roman" panose="02020603050405020304" charset="0"/>
              </a:rPr>
              <a:t> </a:t>
            </a:r>
            <a:r>
              <a:rPr lang="en-IE" dirty="0">
                <a:latin typeface="Times New Roman" panose="02020603050405020304" charset="0"/>
                <a:hlinkClick r:id="rId2"/>
              </a:rPr>
              <a:t>lymphoma</a:t>
            </a:r>
            <a:r>
              <a:rPr lang="en-IE" dirty="0">
                <a:latin typeface="Times New Roman" panose="02020603050405020304" charset="0"/>
              </a:rPr>
              <a:t> and cancers of the nose and </a:t>
            </a:r>
            <a:r>
              <a:rPr lang="en-IE" dirty="0" smtClean="0">
                <a:latin typeface="Times New Roman" panose="02020603050405020304" charset="0"/>
              </a:rPr>
              <a:t>throat</a:t>
            </a:r>
            <a:endParaRPr lang="en-IE" sz="1800" dirty="0" smtClean="0">
              <a:latin typeface="Times New Roman" panose="02020603050405020304" charset="0"/>
              <a:sym typeface="+mn-ea"/>
            </a:endParaRPr>
          </a:p>
          <a:p>
            <a:endParaRPr lang="en-IE" sz="1600" dirty="0" smtClean="0">
              <a:latin typeface="Times New Roman" panose="02020603050405020304" charset="0"/>
              <a:sym typeface="+mn-ea"/>
            </a:endParaRPr>
          </a:p>
          <a:p>
            <a:endParaRPr lang="en-IE" sz="1600" dirty="0" smtClean="0">
              <a:latin typeface="Times New Roman" panose="02020603050405020304" charset="0"/>
              <a:sym typeface="+mn-ea"/>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sz="3200" dirty="0" smtClean="0">
                <a:solidFill>
                  <a:schemeClr val="bg2">
                    <a:lumMod val="20000"/>
                    <a:lumOff val="80000"/>
                  </a:schemeClr>
                </a:solidFill>
                <a:latin typeface="Times New Roman" panose="02020603050405020304" charset="0"/>
              </a:rPr>
              <a:t>EBV types, antibody tests and periods of testing. </a:t>
            </a:r>
            <a:endParaRPr lang="en-IE" sz="3200" dirty="0" smtClean="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499745" y="1080770"/>
            <a:ext cx="11139805" cy="5167630"/>
          </a:xfrm>
        </p:spPr>
        <p:txBody>
          <a:bodyPr>
            <a:noAutofit/>
          </a:bodyPr>
          <a:lstStyle/>
          <a:p>
            <a:r>
              <a:rPr lang="en-GB" sz="2400" dirty="0">
                <a:latin typeface="Times New Roman" panose="02020603050405020304" charset="0"/>
                <a:sym typeface="+mn-ea"/>
              </a:rPr>
              <a:t>Type A EBV worldwide while African type of EBV is type B</a:t>
            </a:r>
            <a:r>
              <a:rPr lang="en-GB" sz="2400" dirty="0" smtClean="0">
                <a:latin typeface="Times New Roman" panose="02020603050405020304" charset="0"/>
                <a:sym typeface="+mn-ea"/>
              </a:rPr>
              <a:t>.</a:t>
            </a:r>
            <a:endParaRPr lang="en-GB" sz="2400" dirty="0" smtClean="0">
              <a:latin typeface="Times New Roman" panose="02020603050405020304" charset="0"/>
              <a:sym typeface="+mn-ea"/>
            </a:endParaRPr>
          </a:p>
          <a:p>
            <a:endParaRPr lang="en-GB" sz="2800" dirty="0" smtClean="0">
              <a:latin typeface="Times New Roman" panose="02020603050405020304" charset="0"/>
              <a:sym typeface="+mn-ea"/>
            </a:endParaRPr>
          </a:p>
          <a:p>
            <a:r>
              <a:rPr lang="en-GB" sz="2400" dirty="0">
                <a:latin typeface="Times New Roman" panose="02020603050405020304" charset="0"/>
                <a:sym typeface="+mn-ea"/>
              </a:rPr>
              <a:t>Transmitted through oral secretions, sexual contact, blood transfusions and organ transplants, sharing drinking glasses and toothbrushes. </a:t>
            </a:r>
            <a:endParaRPr lang="en-GB" sz="2800" dirty="0" smtClean="0">
              <a:latin typeface="Times New Roman" panose="02020603050405020304" charset="0"/>
              <a:sym typeface="+mn-ea"/>
            </a:endParaRPr>
          </a:p>
          <a:p>
            <a:endParaRPr lang="en-GB" sz="3200" dirty="0" smtClean="0">
              <a:latin typeface="Times New Roman" panose="02020603050405020304" charset="0"/>
              <a:sym typeface="+mn-ea"/>
            </a:endParaRPr>
          </a:p>
          <a:p>
            <a:r>
              <a:rPr lang="en-GB" sz="2400" dirty="0">
                <a:latin typeface="Times New Roman" panose="02020603050405020304" charset="0"/>
                <a:sym typeface="+mn-ea"/>
              </a:rPr>
              <a:t>Viral capsid antigen (VCA): Anti-VCA </a:t>
            </a:r>
            <a:r>
              <a:rPr lang="en-GB" sz="2400" dirty="0" err="1">
                <a:latin typeface="Times New Roman" panose="02020603050405020304" charset="0"/>
                <a:sym typeface="+mn-ea"/>
              </a:rPr>
              <a:t>IgM</a:t>
            </a:r>
            <a:r>
              <a:rPr lang="en-GB" sz="2400" dirty="0">
                <a:latin typeface="Times New Roman" panose="02020603050405020304" charset="0"/>
                <a:sym typeface="+mn-ea"/>
              </a:rPr>
              <a:t> appears early in EBV infection and usually disappears within 4 to 6 weeks</a:t>
            </a:r>
            <a:r>
              <a:rPr lang="en-GB" sz="2400" dirty="0" smtClean="0">
                <a:latin typeface="Times New Roman" panose="02020603050405020304" charset="0"/>
                <a:sym typeface="+mn-ea"/>
              </a:rPr>
              <a:t>.</a:t>
            </a:r>
            <a:endParaRPr lang="en-GB" sz="2800" dirty="0" smtClean="0">
              <a:latin typeface="Times New Roman" panose="02020603050405020304" charset="0"/>
              <a:sym typeface="+mn-ea"/>
            </a:endParaRPr>
          </a:p>
          <a:p>
            <a:r>
              <a:rPr lang="en-GB" sz="2400" dirty="0">
                <a:latin typeface="Times New Roman" panose="02020603050405020304" charset="0"/>
                <a:sym typeface="+mn-ea"/>
              </a:rPr>
              <a:t>Early antigen (EA): Anti-EA </a:t>
            </a:r>
            <a:r>
              <a:rPr lang="en-GB" sz="2400" dirty="0" err="1">
                <a:latin typeface="Times New Roman" panose="02020603050405020304" charset="0"/>
                <a:sym typeface="+mn-ea"/>
              </a:rPr>
              <a:t>IgG</a:t>
            </a:r>
            <a:r>
              <a:rPr lang="en-GB" sz="2400" dirty="0">
                <a:latin typeface="Times New Roman" panose="02020603050405020304" charset="0"/>
                <a:sym typeface="+mn-ea"/>
              </a:rPr>
              <a:t> appears in the acute phase of illness and generally falls to undetectable levels after 3 to 6 months. </a:t>
            </a:r>
            <a:endParaRPr lang="en-GB" sz="2400" dirty="0">
              <a:latin typeface="Times New Roman" panose="02020603050405020304" charset="0"/>
              <a:sym typeface="+mn-ea"/>
            </a:endParaRPr>
          </a:p>
          <a:p>
            <a:r>
              <a:rPr lang="en-IE" sz="2400" dirty="0">
                <a:latin typeface="Times New Roman" panose="02020603050405020304" charset="0"/>
              </a:rPr>
              <a:t>Symptoms of infectious mononucleosis generally resolve within 4 weeks. </a:t>
            </a:r>
            <a:endParaRPr lang="en-IE" sz="2800" dirty="0" smtClean="0">
              <a:latin typeface="Times New Roman" panose="02020603050405020304" charset="0"/>
            </a:endParaRPr>
          </a:p>
          <a:p>
            <a:r>
              <a:rPr lang="en-IE" sz="2400" dirty="0" smtClean="0">
                <a:latin typeface="Times New Roman" panose="02020603050405020304" charset="0"/>
                <a:sym typeface="+mn-ea"/>
              </a:rPr>
              <a:t>Antibody titres of </a:t>
            </a:r>
            <a:r>
              <a:rPr lang="en-IE" sz="2400" dirty="0" err="1" smtClean="0">
                <a:latin typeface="Times New Roman" panose="02020603050405020304" charset="0"/>
                <a:sym typeface="+mn-ea"/>
              </a:rPr>
              <a:t>IgM</a:t>
            </a:r>
            <a:r>
              <a:rPr lang="en-IE" sz="2400" dirty="0" smtClean="0">
                <a:latin typeface="Times New Roman" panose="02020603050405020304" charset="0"/>
                <a:sym typeface="+mn-ea"/>
              </a:rPr>
              <a:t> and </a:t>
            </a:r>
            <a:r>
              <a:rPr lang="en-IE" sz="2400" dirty="0" err="1" smtClean="0">
                <a:latin typeface="Times New Roman" panose="02020603050405020304" charset="0"/>
                <a:sym typeface="+mn-ea"/>
              </a:rPr>
              <a:t>IgG</a:t>
            </a:r>
            <a:r>
              <a:rPr lang="en-IE" sz="2400" dirty="0" smtClean="0">
                <a:latin typeface="Times New Roman" panose="02020603050405020304" charset="0"/>
                <a:sym typeface="+mn-ea"/>
              </a:rPr>
              <a:t>- if primary or unresolved infection. </a:t>
            </a:r>
            <a:endParaRPr lang="en-IE" sz="2400" dirty="0" smtClean="0">
              <a:latin typeface="Times New Roman" panose="02020603050405020304" charset="0"/>
              <a:sym typeface="+mn-ea"/>
            </a:endParaRPr>
          </a:p>
          <a:p>
            <a:endParaRPr lang="en-IE" sz="2800" dirty="0" smtClean="0">
              <a:latin typeface="Times New Roman" panose="02020603050405020304" charset="0"/>
              <a:sym typeface="+mn-ea"/>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402" y="120209"/>
            <a:ext cx="10576071" cy="1400530"/>
          </a:xfrm>
        </p:spPr>
        <p:txBody>
          <a:bodyPr/>
          <a:lstStyle/>
          <a:p>
            <a:r>
              <a:rPr lang="en-IE" sz="3200" dirty="0" smtClean="0">
                <a:solidFill>
                  <a:schemeClr val="bg2">
                    <a:lumMod val="20000"/>
                    <a:lumOff val="80000"/>
                  </a:schemeClr>
                </a:solidFill>
                <a:latin typeface="Times New Roman" panose="02020603050405020304" charset="0"/>
              </a:rPr>
              <a:t>EBV antibody test interpretation: </a:t>
            </a:r>
            <a:endParaRPr lang="en-IE" sz="3200" dirty="0" smtClean="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500380" y="1064260"/>
            <a:ext cx="11122025" cy="5184140"/>
          </a:xfrm>
        </p:spPr>
        <p:txBody>
          <a:bodyPr>
            <a:noAutofit/>
          </a:bodyPr>
          <a:lstStyle/>
          <a:p>
            <a:r>
              <a:rPr lang="en-IE" sz="2400" b="1" dirty="0">
                <a:latin typeface="Times New Roman" panose="02020603050405020304" charset="0"/>
              </a:rPr>
              <a:t>Susceptibility to infection</a:t>
            </a:r>
            <a:br>
              <a:rPr lang="en-IE" sz="2400" dirty="0">
                <a:latin typeface="Times New Roman" panose="02020603050405020304" charset="0"/>
              </a:rPr>
            </a:br>
            <a:r>
              <a:rPr lang="en-IE" sz="2400" dirty="0">
                <a:latin typeface="Times New Roman" panose="02020603050405020304" charset="0"/>
              </a:rPr>
              <a:t>People are considered susceptible to EBV infection if they do not have antibodies to the VCA</a:t>
            </a:r>
            <a:r>
              <a:rPr lang="en-IE" sz="2400" dirty="0" smtClean="0">
                <a:latin typeface="Times New Roman" panose="02020603050405020304" charset="0"/>
              </a:rPr>
              <a:t>. It takes 5-7 days for </a:t>
            </a:r>
            <a:r>
              <a:rPr lang="en-IE" sz="2400" dirty="0" err="1" smtClean="0">
                <a:latin typeface="Times New Roman" panose="02020603050405020304" charset="0"/>
              </a:rPr>
              <a:t>IgM</a:t>
            </a:r>
            <a:r>
              <a:rPr lang="en-IE" sz="2400" dirty="0" smtClean="0">
                <a:latin typeface="Times New Roman" panose="02020603050405020304" charset="0"/>
              </a:rPr>
              <a:t> to develop. </a:t>
            </a:r>
            <a:endParaRPr lang="en-IE" sz="2400" dirty="0" smtClean="0">
              <a:latin typeface="Times New Roman" panose="02020603050405020304" charset="0"/>
            </a:endParaRPr>
          </a:p>
          <a:p>
            <a:endParaRPr lang="en-IE" sz="2400" dirty="0" smtClean="0">
              <a:latin typeface="Times New Roman" panose="02020603050405020304" charset="0"/>
            </a:endParaRPr>
          </a:p>
          <a:p>
            <a:r>
              <a:rPr lang="en-IE" sz="2400" b="1" dirty="0">
                <a:latin typeface="Times New Roman" panose="02020603050405020304" charset="0"/>
              </a:rPr>
              <a:t>Primary (new or recent) infection</a:t>
            </a:r>
            <a:br>
              <a:rPr lang="en-IE" sz="2400" dirty="0">
                <a:latin typeface="Times New Roman" panose="02020603050405020304" charset="0"/>
              </a:rPr>
            </a:br>
            <a:r>
              <a:rPr lang="en-IE" sz="2400" dirty="0">
                <a:latin typeface="Times New Roman" panose="02020603050405020304" charset="0"/>
              </a:rPr>
              <a:t>People are considered to have a primary EBV infection if they have anti-VCA </a:t>
            </a:r>
            <a:r>
              <a:rPr lang="en-IE" sz="2400" dirty="0" err="1">
                <a:latin typeface="Times New Roman" panose="02020603050405020304" charset="0"/>
              </a:rPr>
              <a:t>IgM</a:t>
            </a:r>
            <a:r>
              <a:rPr lang="en-IE" sz="2400" dirty="0">
                <a:latin typeface="Times New Roman" panose="02020603050405020304" charset="0"/>
              </a:rPr>
              <a:t> but do not have antibody to EBNA. Other results that strongly suggest a primary infection are a high or rising level of anti-VCA </a:t>
            </a:r>
            <a:r>
              <a:rPr lang="en-IE" sz="2400" dirty="0" err="1">
                <a:latin typeface="Times New Roman" panose="02020603050405020304" charset="0"/>
              </a:rPr>
              <a:t>IgG</a:t>
            </a:r>
            <a:r>
              <a:rPr lang="en-IE" sz="2400" dirty="0">
                <a:latin typeface="Times New Roman" panose="02020603050405020304" charset="0"/>
              </a:rPr>
              <a:t> </a:t>
            </a:r>
            <a:r>
              <a:rPr lang="en-IE" sz="2400" dirty="0" smtClean="0">
                <a:latin typeface="Times New Roman" panose="02020603050405020304" charset="0"/>
              </a:rPr>
              <a:t>and no antibody to EBNA after at least 4 weeks of illness. </a:t>
            </a:r>
            <a:endParaRPr lang="en-IE" sz="2400" dirty="0" smtClean="0">
              <a:latin typeface="Times New Roman" panose="02020603050405020304" charset="0"/>
            </a:endParaRPr>
          </a:p>
          <a:p>
            <a:endParaRPr lang="en-IE" sz="2400" dirty="0" smtClean="0">
              <a:latin typeface="Times New Roman" panose="02020603050405020304" charset="0"/>
            </a:endParaRPr>
          </a:p>
          <a:p>
            <a:r>
              <a:rPr lang="en-IE" sz="2400" b="1" dirty="0" smtClean="0">
                <a:latin typeface="Times New Roman" panose="02020603050405020304" charset="0"/>
              </a:rPr>
              <a:t>Past infection</a:t>
            </a:r>
            <a:br>
              <a:rPr lang="en-IE" sz="2400" dirty="0" smtClean="0">
                <a:latin typeface="Times New Roman" panose="02020603050405020304" charset="0"/>
              </a:rPr>
            </a:br>
            <a:r>
              <a:rPr lang="en-IE" sz="2400" dirty="0" smtClean="0">
                <a:latin typeface="Times New Roman" panose="02020603050405020304" charset="0"/>
              </a:rPr>
              <a:t>The presence of antibodies to both VCA and EBNA suggests past infection (from several months to years earlier). </a:t>
            </a:r>
            <a:endParaRPr lang="en-IE" sz="2400" dirty="0" smtClean="0">
              <a:latin typeface="Times New Roman" panose="02020603050405020304" charset="0"/>
            </a:endParaRPr>
          </a:p>
          <a:p>
            <a:endParaRPr lang="en-IE" sz="2400" dirty="0" smtClean="0">
              <a:latin typeface="Times New Roman" panose="02020603050405020304" charset="0"/>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295873"/>
            <a:ext cx="9661671" cy="1043573"/>
          </a:xfrm>
        </p:spPr>
        <p:txBody>
          <a:bodyPr/>
          <a:lstStyle/>
          <a:p>
            <a:r>
              <a:rPr lang="en-IE" sz="3200" dirty="0" smtClean="0">
                <a:solidFill>
                  <a:schemeClr val="bg2">
                    <a:lumMod val="20000"/>
                    <a:lumOff val="80000"/>
                  </a:schemeClr>
                </a:solidFill>
                <a:latin typeface="Times New Roman" panose="02020603050405020304" charset="0"/>
              </a:rPr>
              <a:t>Antibody test interpretation: </a:t>
            </a:r>
            <a:endParaRPr lang="en-IE" sz="3200" dirty="0" smtClean="0">
              <a:solidFill>
                <a:schemeClr val="bg2">
                  <a:lumMod val="20000"/>
                  <a:lumOff val="80000"/>
                </a:schemeClr>
              </a:solidFill>
              <a:latin typeface="Times New Roman" panose="02020603050405020304" charset="0"/>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5795" y="1238250"/>
            <a:ext cx="9084945" cy="4569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a:solidFill>
                  <a:schemeClr val="bg2">
                    <a:lumMod val="20000"/>
                    <a:lumOff val="80000"/>
                  </a:schemeClr>
                </a:solidFill>
                <a:latin typeface="Times New Roman" panose="02020603050405020304" charset="0"/>
              </a:rPr>
              <a:t>Varicella Zoster Virus- diagnosis and symp</a:t>
            </a:r>
            <a:r>
              <a:rPr lang="en-GB" altLang="en-US" sz="2800">
                <a:solidFill>
                  <a:schemeClr val="bg2">
                    <a:lumMod val="20000"/>
                    <a:lumOff val="80000"/>
                  </a:schemeClr>
                </a:solidFill>
              </a:rPr>
              <a:t>toms: </a:t>
            </a:r>
            <a:endParaRPr lang="en-GB" altLang="en-US" sz="2800">
              <a:solidFill>
                <a:schemeClr val="bg2">
                  <a:lumMod val="20000"/>
                  <a:lumOff val="80000"/>
                </a:schemeClr>
              </a:solidFill>
            </a:endParaRPr>
          </a:p>
        </p:txBody>
      </p:sp>
      <p:sp>
        <p:nvSpPr>
          <p:cNvPr id="3" name="Content Placeholder 2"/>
          <p:cNvSpPr>
            <a:spLocks noGrp="1"/>
          </p:cNvSpPr>
          <p:nvPr>
            <p:ph sz="half" idx="1"/>
          </p:nvPr>
        </p:nvSpPr>
        <p:spPr>
          <a:xfrm>
            <a:off x="645795" y="1184910"/>
            <a:ext cx="5156200" cy="5309235"/>
          </a:xfrm>
        </p:spPr>
        <p:txBody>
          <a:bodyPr>
            <a:normAutofit lnSpcReduction="10000"/>
          </a:bodyPr>
          <a:p>
            <a:r>
              <a:rPr lang="en-GB" altLang="en-US" sz="2000">
                <a:latin typeface="Times New Roman" panose="02020603050405020304" charset="0"/>
              </a:rPr>
              <a:t>Chickenpox is a very contagious disease caused by the varicella-zoster virus (VZV). It causes a blister-like </a:t>
            </a:r>
            <a:r>
              <a:rPr lang="en-GB" altLang="en-US" sz="2000">
                <a:solidFill>
                  <a:schemeClr val="tx1"/>
                </a:solidFill>
                <a:latin typeface="Times New Roman" panose="02020603050405020304" charset="0"/>
              </a:rPr>
              <a:t>rash, itching, tiredness, and fever. </a:t>
            </a:r>
            <a:r>
              <a:rPr lang="en-GB" altLang="en-US" sz="2000">
                <a:latin typeface="Times New Roman" panose="02020603050405020304" charset="0"/>
              </a:rPr>
              <a:t>The rash appears first on the stomach, back and face and can spread over the entire body causing between blisters (duration of illness 5-7 days). Chickenpox can be serious, especially in infants with weakened immune systems. </a:t>
            </a:r>
            <a:endParaRPr lang="en-GB" altLang="en-US" sz="2000">
              <a:latin typeface="Times New Roman" panose="02020603050405020304" charset="0"/>
            </a:endParaRPr>
          </a:p>
          <a:p>
            <a:endParaRPr lang="en-GB" altLang="en-US" sz="2400">
              <a:latin typeface="Times New Roman" panose="02020603050405020304" charset="0"/>
            </a:endParaRPr>
          </a:p>
          <a:p>
            <a:r>
              <a:rPr lang="en-GB" altLang="en-US" sz="2000">
                <a:latin typeface="Times New Roman" panose="02020603050405020304" charset="0"/>
              </a:rPr>
              <a:t>Main complication is when group A streptococcal infection of skin and tissue.</a:t>
            </a:r>
            <a:endParaRPr lang="en-GB" altLang="en-US" sz="2000">
              <a:latin typeface="Times New Roman" panose="02020603050405020304" charset="0"/>
            </a:endParaRPr>
          </a:p>
          <a:p>
            <a:pPr marL="0" indent="0">
              <a:buNone/>
            </a:pPr>
            <a:endParaRPr lang="en-GB" altLang="en-US" sz="2400">
              <a:latin typeface="Times New Roman" panose="02020603050405020304" charset="0"/>
            </a:endParaRPr>
          </a:p>
          <a:p>
            <a:r>
              <a:rPr lang="en-GB" altLang="en-US" sz="2000">
                <a:latin typeface="Times New Roman" panose="02020603050405020304" charset="0"/>
              </a:rPr>
              <a:t>Symptoms: Fever, fatigue, lack of appetite, headache. </a:t>
            </a:r>
            <a:endParaRPr lang="en-GB" altLang="en-US" sz="2000">
              <a:latin typeface="Times New Roman" panose="02020603050405020304" charset="0"/>
            </a:endParaRPr>
          </a:p>
          <a:p>
            <a:endParaRPr lang="en-GB" altLang="en-US" sz="2400">
              <a:latin typeface="Times New Roman" panose="02020603050405020304" charset="0"/>
            </a:endParaRPr>
          </a:p>
          <a:p>
            <a:endParaRPr lang="en-GB" altLang="en-US" sz="2400">
              <a:latin typeface="Times New Roman" panose="02020603050405020304" charset="0"/>
            </a:endParaRPr>
          </a:p>
          <a:p>
            <a:endParaRPr lang="en-GB" altLang="en-US">
              <a:latin typeface="Times New Roman" panose="02020603050405020304" charset="0"/>
            </a:endParaRPr>
          </a:p>
        </p:txBody>
      </p:sp>
      <p:sp>
        <p:nvSpPr>
          <p:cNvPr id="4" name="Slide Number Placeholder 3"/>
          <p:cNvSpPr>
            <a:spLocks noGrp="1"/>
          </p:cNvSpPr>
          <p:nvPr>
            <p:ph type="sldNum" sz="quarter" idx="12"/>
          </p:nvPr>
        </p:nvSpPr>
        <p:spPr/>
        <p:txBody>
          <a:bodyPr/>
          <a:p>
            <a:fld id="{605719FF-A8F7-43B6-AA52-F4FB8B1F7149}" type="slidenum">
              <a:rPr lang="en-GB" smtClean="0"/>
            </a:fld>
            <a:endParaRPr lang="en-GB"/>
          </a:p>
        </p:txBody>
      </p:sp>
      <p:pic>
        <p:nvPicPr>
          <p:cNvPr id="5" name="Content Placeholder 4"/>
          <p:cNvPicPr>
            <a:picLocks noChangeAspect="1"/>
          </p:cNvPicPr>
          <p:nvPr>
            <p:ph sz="half" idx="2"/>
          </p:nvPr>
        </p:nvPicPr>
        <p:blipFill>
          <a:blip r:embed="rId1"/>
          <a:stretch>
            <a:fillRect/>
          </a:stretch>
        </p:blipFill>
        <p:spPr>
          <a:xfrm>
            <a:off x="6376035" y="1440180"/>
            <a:ext cx="5267960" cy="47980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sz="3200">
                <a:solidFill>
                  <a:schemeClr val="bg2">
                    <a:lumMod val="20000"/>
                    <a:lumOff val="80000"/>
                  </a:schemeClr>
                </a:solidFill>
                <a:latin typeface="Times New Roman" panose="02020603050405020304" charset="0"/>
              </a:rPr>
              <a:t>Viral Hepatitis panel: </a:t>
            </a:r>
            <a:endParaRPr lang="en-GB" altLang="en-US" sz="3200">
              <a:solidFill>
                <a:schemeClr val="bg2">
                  <a:lumMod val="20000"/>
                  <a:lumOff val="80000"/>
                </a:schemeClr>
              </a:solidFill>
              <a:latin typeface="Times New Roman" panose="02020603050405020304" charset="0"/>
            </a:endParaRPr>
          </a:p>
        </p:txBody>
      </p:sp>
      <p:sp>
        <p:nvSpPr>
          <p:cNvPr id="4" name="Content Placeholder 3"/>
          <p:cNvSpPr>
            <a:spLocks noGrp="1"/>
          </p:cNvSpPr>
          <p:nvPr>
            <p:ph sz="half" idx="1"/>
          </p:nvPr>
        </p:nvSpPr>
        <p:spPr>
          <a:xfrm>
            <a:off x="528955" y="1320165"/>
            <a:ext cx="5256530" cy="4936490"/>
          </a:xfrm>
        </p:spPr>
        <p:txBody>
          <a:bodyPr/>
          <a:p>
            <a:r>
              <a:rPr lang="en-GB" altLang="en-US" sz="2000">
                <a:latin typeface="Times New Roman" panose="02020603050405020304" charset="0"/>
              </a:rPr>
              <a:t>Screening and aid to diagnosis of recent infection: HAV IgM, HBs Ag Ultra, HBc IgM II, Anti-HCV, Anti-HEV IgM providing a differential diagnosis. </a:t>
            </a:r>
            <a:endParaRPr lang="en-GB" altLang="en-US" sz="2000">
              <a:latin typeface="Times New Roman" panose="02020603050405020304" charset="0"/>
            </a:endParaRPr>
          </a:p>
          <a:p>
            <a:endParaRPr lang="en-GB" altLang="en-US" sz="2400">
              <a:latin typeface="Times New Roman" panose="02020603050405020304" charset="0"/>
            </a:endParaRPr>
          </a:p>
          <a:p>
            <a:r>
              <a:rPr lang="en-GB" altLang="en-US" sz="2000">
                <a:latin typeface="Times New Roman" panose="02020603050405020304" charset="0"/>
              </a:rPr>
              <a:t>Monitoring of chronic hepatitis: HBs Ag Ultra, HBe/Anti-HBe, Anti-HBs Total II</a:t>
            </a:r>
            <a:endParaRPr lang="en-GB" altLang="en-US" sz="2000">
              <a:latin typeface="Times New Roman" panose="02020603050405020304" charset="0"/>
            </a:endParaRPr>
          </a:p>
          <a:p>
            <a:endParaRPr lang="en-GB" altLang="en-US" sz="2400">
              <a:latin typeface="Times New Roman" panose="02020603050405020304" charset="0"/>
            </a:endParaRPr>
          </a:p>
          <a:p>
            <a:r>
              <a:rPr lang="en-GB" altLang="en-US" sz="2000">
                <a:latin typeface="Times New Roman" panose="02020603050405020304" charset="0"/>
              </a:rPr>
              <a:t>Determination of hepatitis immune status (pre-post vaccination): Anti-HAV Total, Anti-HBs Total II, Anti-HBc Total II, Anti-HEV IgG</a:t>
            </a:r>
            <a:endParaRPr lang="en-GB" altLang="en-US" sz="2000">
              <a:latin typeface="Times New Roman" panose="02020603050405020304" charset="0"/>
            </a:endParaRPr>
          </a:p>
          <a:p>
            <a:pPr marL="0" indent="0">
              <a:buNone/>
            </a:pPr>
            <a:endParaRPr lang="en-GB" altLang="en-US" sz="2000">
              <a:latin typeface="Times New Roman" panose="02020603050405020304" charset="0"/>
            </a:endParaRPr>
          </a:p>
        </p:txBody>
      </p:sp>
      <p:sp>
        <p:nvSpPr>
          <p:cNvPr id="5" name="Slide Number Placeholder 4"/>
          <p:cNvSpPr>
            <a:spLocks noGrp="1"/>
          </p:cNvSpPr>
          <p:nvPr>
            <p:ph type="sldNum" sz="quarter" idx="12"/>
          </p:nvPr>
        </p:nvSpPr>
        <p:spPr/>
        <p:txBody>
          <a:bodyPr/>
          <a:p>
            <a:fld id="{605719FF-A8F7-43B6-AA52-F4FB8B1F7149}" type="slidenum">
              <a:rPr lang="en-GB" smtClean="0"/>
            </a:fld>
            <a:endParaRPr lang="en-GB"/>
          </a:p>
        </p:txBody>
      </p:sp>
      <p:pic>
        <p:nvPicPr>
          <p:cNvPr id="6" name="Content Placeholder 5"/>
          <p:cNvPicPr>
            <a:picLocks noChangeAspect="1"/>
          </p:cNvPicPr>
          <p:nvPr>
            <p:ph sz="half" idx="2"/>
          </p:nvPr>
        </p:nvPicPr>
        <p:blipFill>
          <a:blip r:embed="rId1"/>
          <a:stretch>
            <a:fillRect/>
          </a:stretch>
        </p:blipFill>
        <p:spPr>
          <a:xfrm>
            <a:off x="6031865" y="1401445"/>
            <a:ext cx="5499100" cy="4950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solidFill>
                  <a:schemeClr val="bg2">
                    <a:lumMod val="20000"/>
                    <a:lumOff val="80000"/>
                  </a:schemeClr>
                </a:solidFill>
                <a:latin typeface="Times New Roman" panose="02020603050405020304" charset="0"/>
              </a:rPr>
              <a:t>Measles- </a:t>
            </a:r>
            <a:r>
              <a:rPr lang="en-GB" sz="3200" dirty="0">
                <a:solidFill>
                  <a:schemeClr val="bg2">
                    <a:lumMod val="20000"/>
                    <a:lumOff val="80000"/>
                  </a:schemeClr>
                </a:solidFill>
                <a:latin typeface="Times New Roman" panose="02020603050405020304" charset="0"/>
                <a:sym typeface="+mn-ea"/>
              </a:rPr>
              <a:t>RNA paromyxovirus </a:t>
            </a:r>
            <a:endParaRPr lang="en-GB" sz="3200" dirty="0">
              <a:solidFill>
                <a:schemeClr val="bg2">
                  <a:lumMod val="20000"/>
                  <a:lumOff val="80000"/>
                </a:schemeClr>
              </a:solidFill>
              <a:latin typeface="Times New Roman" panose="02020603050405020304" charset="0"/>
              <a:sym typeface="+mn-ea"/>
            </a:endParaRPr>
          </a:p>
        </p:txBody>
      </p:sp>
      <p:sp>
        <p:nvSpPr>
          <p:cNvPr id="3" name="Content Placeholder 2"/>
          <p:cNvSpPr>
            <a:spLocks noGrp="1"/>
          </p:cNvSpPr>
          <p:nvPr>
            <p:ph sz="half" idx="1"/>
          </p:nvPr>
        </p:nvSpPr>
        <p:spPr>
          <a:xfrm>
            <a:off x="645795" y="1136015"/>
            <a:ext cx="9206230" cy="4794885"/>
          </a:xfrm>
        </p:spPr>
        <p:txBody>
          <a:bodyPr>
            <a:noAutofit/>
          </a:bodyPr>
          <a:lstStyle/>
          <a:p>
            <a:r>
              <a:rPr lang="en-GB" sz="2000" dirty="0">
                <a:latin typeface="Times New Roman" panose="02020603050405020304" charset="0"/>
              </a:rPr>
              <a:t>Highly contagious by droplet spread.</a:t>
            </a:r>
            <a:endParaRPr lang="en-GB" sz="2000" dirty="0">
              <a:latin typeface="Times New Roman" panose="02020603050405020304" charset="0"/>
            </a:endParaRPr>
          </a:p>
          <a:p>
            <a:r>
              <a:rPr lang="en-GB" sz="2000" dirty="0">
                <a:latin typeface="Times New Roman" panose="02020603050405020304" charset="0"/>
              </a:rPr>
              <a:t>Essential lesion of measles is found in the skin, conjunctivae, and the mucous membranes of the nasopharynx , bronchi , and intestinal tract.</a:t>
            </a:r>
            <a:endParaRPr lang="en-GB" sz="2000" dirty="0">
              <a:latin typeface="Times New Roman" panose="02020603050405020304" charset="0"/>
            </a:endParaRPr>
          </a:p>
          <a:p>
            <a:r>
              <a:rPr lang="en-GB" sz="2000" dirty="0">
                <a:latin typeface="Times New Roman" panose="02020603050405020304" charset="0"/>
              </a:rPr>
              <a:t>Sensitivity of measles IgM limited in first 72 hrs after rash occurs is a possibility. IgM antibodies present when rash appears.</a:t>
            </a:r>
            <a:endParaRPr lang="en-GB" sz="2000" dirty="0">
              <a:latin typeface="Times New Roman" panose="02020603050405020304" charset="0"/>
            </a:endParaRPr>
          </a:p>
          <a:p>
            <a:r>
              <a:rPr lang="en-GB" sz="2000" dirty="0">
                <a:latin typeface="Times New Roman" panose="02020603050405020304" charset="0"/>
              </a:rPr>
              <a:t>Appears in children of up to 0-9 years of age in developed countries. </a:t>
            </a:r>
            <a:endParaRPr lang="en-GB" sz="2000" dirty="0">
              <a:latin typeface="Times New Roman" panose="02020603050405020304" charset="0"/>
            </a:endParaRPr>
          </a:p>
          <a:p>
            <a:r>
              <a:rPr lang="en-GB" sz="2000" dirty="0">
                <a:latin typeface="Times New Roman" panose="02020603050405020304" charset="0"/>
              </a:rPr>
              <a:t>generalised erythematous maculopapular rash lasting &gt;3 days and</a:t>
            </a:r>
            <a:endParaRPr lang="en-GB" sz="2000" dirty="0">
              <a:latin typeface="Times New Roman" panose="02020603050405020304" charset="0"/>
            </a:endParaRPr>
          </a:p>
          <a:p>
            <a:r>
              <a:rPr lang="en-GB" sz="2000" dirty="0">
                <a:latin typeface="Times New Roman" panose="02020603050405020304" charset="0"/>
              </a:rPr>
              <a:t>a temperature &gt;38.0 C and one or more of the following:</a:t>
            </a:r>
            <a:endParaRPr lang="en-GB" sz="2000" dirty="0">
              <a:latin typeface="Times New Roman" panose="02020603050405020304" charset="0"/>
            </a:endParaRPr>
          </a:p>
          <a:p>
            <a:pPr marL="0" indent="0">
              <a:buNone/>
            </a:pPr>
            <a:r>
              <a:rPr lang="en-GB" sz="2000" dirty="0">
                <a:latin typeface="Times New Roman" panose="02020603050405020304" charset="0"/>
              </a:rPr>
              <a:t>cough, coryza (rhinitis), Koplik’s spots or conjunctivitis.</a:t>
            </a:r>
            <a:endParaRPr lang="en-GB" sz="2000" dirty="0">
              <a:latin typeface="Times New Roman" panose="02020603050405020304" charset="0"/>
            </a:endParaRPr>
          </a:p>
          <a:p>
            <a:r>
              <a:rPr lang="en-GB" sz="2000" dirty="0">
                <a:latin typeface="Times New Roman" panose="02020603050405020304" charset="0"/>
              </a:rPr>
              <a:t>Alternatively, laboratory diagnosis performed with confirmation of positive measles IgM antibodies or isolation of measles virus RNA from respiratory specimens.</a:t>
            </a:r>
            <a:endParaRPr lang="en-GB" sz="2000" dirty="0">
              <a:latin typeface="Times New Roman" panose="02020603050405020304" charset="0"/>
            </a:endParaRPr>
          </a:p>
          <a:p>
            <a:r>
              <a:rPr lang="en-GB" sz="2000" dirty="0">
                <a:latin typeface="Times New Roman" panose="02020603050405020304" charset="0"/>
              </a:rPr>
              <a:t>For people unable to have their blood drawn, saliva can be collected for salivary measles-specific IgA testing.</a:t>
            </a:r>
            <a:endParaRPr lang="en-GB" sz="2000" dirty="0">
              <a:latin typeface="Times New Roman" panose="02020603050405020304" charset="0"/>
            </a:endParaRPr>
          </a:p>
        </p:txBody>
      </p:sp>
      <p:pic>
        <p:nvPicPr>
          <p:cNvPr id="4" name="Content Placeholder 3"/>
          <p:cNvPicPr>
            <a:picLocks noGrp="1" noChangeAspect="1"/>
          </p:cNvPicPr>
          <p:nvPr>
            <p:ph sz="half" idx="2"/>
          </p:nvPr>
        </p:nvPicPr>
        <p:blipFill>
          <a:blip r:embed="rId1"/>
          <a:stretch>
            <a:fillRect/>
          </a:stretch>
        </p:blipFill>
        <p:spPr>
          <a:xfrm>
            <a:off x="9319895" y="2583180"/>
            <a:ext cx="2531745" cy="1901190"/>
          </a:xfrm>
          <a:prstGeom prst="rect">
            <a:avLst/>
          </a:prstGeom>
        </p:spPr>
      </p:pic>
      <p:sp>
        <p:nvSpPr>
          <p:cNvPr id="5" name="Slide Number Placeholder 4"/>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6239" y="791108"/>
            <a:ext cx="6089073" cy="7939405"/>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Times New Roman" panose="02020603050405020304" charset="0"/>
              </a:rPr>
              <a:t>Instrument has 12 cartridge compartments. </a:t>
            </a:r>
            <a:endParaRPr lang="en-GB" dirty="0">
              <a:latin typeface="Times New Roman" panose="02020603050405020304" charset="0"/>
            </a:endParaRPr>
          </a:p>
          <a:p>
            <a:pPr marL="285750" indent="-285750">
              <a:buFont typeface="Arial" panose="020B0604020202020204" pitchFamily="34" charset="0"/>
              <a:buChar char="•"/>
            </a:pPr>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Specification or promotional page promises different parameters can be set per sample. </a:t>
            </a:r>
            <a:endParaRPr lang="en-GB" dirty="0">
              <a:latin typeface="Times New Roman" panose="02020603050405020304" charset="0"/>
            </a:endParaRPr>
          </a:p>
          <a:p>
            <a:pPr marL="285750" indent="-285750">
              <a:buFont typeface="Arial" panose="020B0604020202020204" pitchFamily="34" charset="0"/>
              <a:buChar char="•"/>
            </a:pPr>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Single injection volume set by the instrument after manual assay setup. </a:t>
            </a:r>
            <a:endParaRPr lang="en-GB" dirty="0">
              <a:latin typeface="Times New Roman" panose="02020603050405020304" charset="0"/>
            </a:endParaRPr>
          </a:p>
          <a:p>
            <a:pPr marL="285750" indent="-285750">
              <a:buFont typeface="Arial" panose="020B0604020202020204" pitchFamily="34" charset="0"/>
              <a:buChar char="•"/>
            </a:pPr>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Should be the ability to prioritise specimens with STAT testing. </a:t>
            </a:r>
            <a:endParaRPr lang="en-GB" dirty="0">
              <a:latin typeface="Times New Roman" panose="02020603050405020304" charset="0"/>
            </a:endParaRPr>
          </a:p>
          <a:p>
            <a:pPr marL="285750" indent="-285750">
              <a:buFont typeface="Arial" panose="020B0604020202020204" pitchFamily="34" charset="0"/>
              <a:buChar char="•"/>
            </a:pPr>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30-36 tests per hour. Indicated 35-60 minutes per test. </a:t>
            </a:r>
            <a:endParaRPr lang="en-GB" dirty="0">
              <a:latin typeface="Times New Roman" panose="02020603050405020304" charset="0"/>
            </a:endParaRPr>
          </a:p>
          <a:p>
            <a:pPr marL="285750" indent="-285750">
              <a:buFont typeface="Arial" panose="020B0604020202020204" pitchFamily="34" charset="0"/>
              <a:buChar char="•"/>
            </a:pPr>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Support in obtaining ISO 15189 certification</a:t>
            </a:r>
            <a:endParaRPr lang="en-GB"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Compare your internal quality with your peers’ from around the world on the </a:t>
            </a:r>
            <a:r>
              <a:rPr lang="en-GB" dirty="0" err="1">
                <a:latin typeface="Times New Roman" panose="02020603050405020304" charset="0"/>
              </a:rPr>
              <a:t>myQC</a:t>
            </a:r>
            <a:r>
              <a:rPr lang="en-GB" dirty="0">
                <a:latin typeface="Times New Roman" panose="02020603050405020304" charset="0"/>
              </a:rPr>
              <a:t> platform.</a:t>
            </a:r>
            <a:endParaRPr lang="en-GB" dirty="0">
              <a:latin typeface="Times New Roman" panose="02020603050405020304" charset="0"/>
            </a:endParaRPr>
          </a:p>
          <a:p>
            <a:pPr marL="285750" indent="-285750">
              <a:buFont typeface="Arial" panose="020B0604020202020204" pitchFamily="34" charset="0"/>
              <a:buChar char="•"/>
            </a:pPr>
            <a:r>
              <a:rPr lang="en-GB" dirty="0" smtClean="0">
                <a:latin typeface="Times New Roman" panose="02020603050405020304" charset="0"/>
                <a:sym typeface="+mn-ea"/>
              </a:rPr>
              <a:t>Westgaurd rules and Levy Jennings charts to measure the Ag/Abs titres. 		</a:t>
            </a:r>
            <a:endParaRPr lang="en-GB" dirty="0">
              <a:latin typeface="Times New Roman" panose="02020603050405020304" charset="0"/>
            </a:endParaRPr>
          </a:p>
          <a:p>
            <a:endParaRPr lang="en-GB" sz="1600" dirty="0">
              <a:latin typeface="Times New Roman" panose="02020603050405020304" charset="0"/>
            </a:endParaRPr>
          </a:p>
          <a:p>
            <a:pPr marL="285750" indent="-285750">
              <a:buFont typeface="Arial" panose="020B0604020202020204" pitchFamily="34" charset="0"/>
              <a:buChar char="•"/>
            </a:pPr>
            <a:r>
              <a:rPr lang="en-GB" dirty="0">
                <a:latin typeface="Times New Roman" panose="02020603050405020304" charset="0"/>
              </a:rPr>
              <a:t>Instrument applies Windows </a:t>
            </a:r>
            <a:r>
              <a:rPr lang="en-GB" dirty="0" err="1">
                <a:latin typeface="Times New Roman" panose="02020603050405020304" charset="0"/>
              </a:rPr>
              <a:t>Xpe</a:t>
            </a:r>
            <a:r>
              <a:rPr lang="en-GB" dirty="0">
                <a:latin typeface="Times New Roman" panose="02020603050405020304" charset="0"/>
              </a:rPr>
              <a:t> software. </a:t>
            </a:r>
            <a:endParaRPr lang="en-GB" dirty="0">
              <a:latin typeface="Times New Roman" panose="02020603050405020304" charset="0"/>
            </a:endParaRPr>
          </a:p>
          <a:p>
            <a:pPr marL="285750" indent="-285750">
              <a:buFont typeface="Arial" panose="020B0604020202020204" pitchFamily="34" charset="0"/>
              <a:buChar char="•"/>
            </a:pPr>
            <a:r>
              <a:rPr lang="en-GB" dirty="0" smtClean="0">
                <a:latin typeface="Times New Roman" panose="02020603050405020304" charset="0"/>
                <a:sym typeface="+mn-ea"/>
                <a:hlinkClick r:id="rId1" action="ppaction://hlinkfile"/>
              </a:rPr>
              <a:t>https://www.youtube.com/watch?v=mr_2Uf7Y0P8</a:t>
            </a:r>
            <a:endParaRPr lang="en-GB" dirty="0" smtClean="0">
              <a:latin typeface="Times New Roman" panose="02020603050405020304" charset="0"/>
              <a:sym typeface="+mn-ea"/>
              <a:hlinkClick r:id="rId1" action="ppaction://hlinkfile"/>
            </a:endParaRPr>
          </a:p>
          <a:p>
            <a:pPr marL="285750" indent="-285750">
              <a:buFont typeface="Arial" panose="020B0604020202020204" pitchFamily="34" charset="0"/>
              <a:buChar char="•"/>
            </a:pPr>
            <a:endParaRPr lang="en-GB" dirty="0" smtClean="0">
              <a:latin typeface="Times New Roman" panose="02020603050405020304" charset="0"/>
              <a:sym typeface="+mn-ea"/>
              <a:hlinkClick r:id="rId1" action="ppaction://hlinkfile"/>
            </a:endParaRP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8" name="Picture 4" descr="http://www.biomerieux-diagnostics.com/sites/clinic/files/minividas_system_overvie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0182" y="1422285"/>
            <a:ext cx="4925695" cy="40271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213995" y="137160"/>
            <a:ext cx="8180070" cy="460375"/>
          </a:xfrm>
          <a:prstGeom prst="rect">
            <a:avLst/>
          </a:prstGeom>
          <a:noFill/>
        </p:spPr>
        <p:txBody>
          <a:bodyPr wrap="square" rtlCol="0">
            <a:spAutoFit/>
          </a:bodyPr>
          <a:lstStyle/>
          <a:p>
            <a:r>
              <a:rPr lang="en-GB" sz="2400" dirty="0">
                <a:solidFill>
                  <a:schemeClr val="bg2">
                    <a:lumMod val="20000"/>
                    <a:lumOff val="80000"/>
                  </a:schemeClr>
                </a:solidFill>
                <a:latin typeface="Times New Roman" panose="02020603050405020304" charset="0"/>
              </a:rPr>
              <a:t>Marketed capabilities and analyser appearance: </a:t>
            </a:r>
            <a:endParaRPr lang="en-GB" sz="2400" dirty="0">
              <a:solidFill>
                <a:schemeClr val="bg2">
                  <a:lumMod val="20000"/>
                  <a:lumOff val="80000"/>
                </a:schemeClr>
              </a:solidFill>
              <a:latin typeface="Times New Roman" panose="02020603050405020304" charset="0"/>
            </a:endParaRPr>
          </a:p>
        </p:txBody>
      </p:sp>
      <p:sp>
        <p:nvSpPr>
          <p:cNvPr id="2" name="Slide Number Placeholder 1"/>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329" y="122555"/>
            <a:ext cx="10258422" cy="1193800"/>
          </a:xfrm>
        </p:spPr>
        <p:txBody>
          <a:bodyPr/>
          <a:lstStyle/>
          <a:p>
            <a:r>
              <a:rPr lang="en-GB" sz="2800" dirty="0">
                <a:solidFill>
                  <a:schemeClr val="bg2">
                    <a:lumMod val="20000"/>
                    <a:lumOff val="80000"/>
                  </a:schemeClr>
                </a:solidFill>
              </a:rPr>
              <a:t>O</a:t>
            </a:r>
            <a:r>
              <a:rPr lang="en-GB" sz="3200" dirty="0">
                <a:solidFill>
                  <a:schemeClr val="bg2">
                    <a:lumMod val="20000"/>
                    <a:lumOff val="80000"/>
                  </a:schemeClr>
                </a:solidFill>
                <a:latin typeface="Times New Roman" panose="02020603050405020304" charset="0"/>
              </a:rPr>
              <a:t>peration of the analyser: </a:t>
            </a:r>
            <a:endParaRPr lang="en-GB" sz="3200" dirty="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327025" y="1051560"/>
            <a:ext cx="10258425" cy="4958715"/>
          </a:xfrm>
        </p:spPr>
        <p:txBody>
          <a:bodyPr>
            <a:normAutofit fontScale="90000" lnSpcReduction="20000"/>
          </a:bodyPr>
          <a:lstStyle/>
          <a:p>
            <a:r>
              <a:rPr lang="en-GB" sz="2400" dirty="0">
                <a:latin typeface="Times New Roman" panose="02020603050405020304" charset="0"/>
              </a:rPr>
              <a:t>Allow the MINI VIDAS® to warm up for 45 minutes. During initialization, the optical system automatically calibrates against a standard which reacts to temperature. Switch off the MINI VIDAS® . Wait 1 minute and switch on the system again. This operation enables the standard value to be memorized after the temperature has stabilized. </a:t>
            </a:r>
            <a:endParaRPr lang="en-GB" sz="2400" dirty="0">
              <a:latin typeface="Times New Roman" panose="02020603050405020304" charset="0"/>
            </a:endParaRPr>
          </a:p>
          <a:p>
            <a:r>
              <a:rPr lang="en-GB" sz="2400" dirty="0">
                <a:latin typeface="Times New Roman" panose="02020603050405020304" charset="0"/>
              </a:rPr>
              <a:t>Calibrate every 14-28 days after changing lot number. </a:t>
            </a:r>
            <a:endParaRPr lang="en-GB" sz="2400" dirty="0">
              <a:latin typeface="Times New Roman" panose="02020603050405020304" charset="0"/>
            </a:endParaRPr>
          </a:p>
          <a:p>
            <a:r>
              <a:rPr lang="en-GB" sz="2400" dirty="0">
                <a:latin typeface="Times New Roman" panose="02020603050405020304" charset="0"/>
              </a:rPr>
              <a:t>Controls run after each new kit and after each calibration to see that the instrument is adjusted to the factory data.</a:t>
            </a:r>
            <a:endParaRPr lang="en-GB" sz="2400" dirty="0">
              <a:latin typeface="Times New Roman" panose="02020603050405020304" charset="0"/>
            </a:endParaRPr>
          </a:p>
          <a:p>
            <a:r>
              <a:rPr lang="en-GB" sz="2400" dirty="0">
                <a:latin typeface="Times New Roman" panose="02020603050405020304" charset="0"/>
              </a:rPr>
              <a:t>Barcodes scanned with a wand.</a:t>
            </a:r>
            <a:endParaRPr lang="en-GB" sz="2400" dirty="0">
              <a:latin typeface="Times New Roman" panose="02020603050405020304" charset="0"/>
            </a:endParaRPr>
          </a:p>
          <a:p>
            <a:r>
              <a:rPr lang="en-GB" sz="2400" dirty="0">
                <a:latin typeface="Times New Roman" panose="02020603050405020304" charset="0"/>
              </a:rPr>
              <a:t>If required, leave reagents 30 min at room temperature before use. Check the type of sample and pre-process samples if required. </a:t>
            </a:r>
            <a:endParaRPr lang="en-GB" sz="2400" dirty="0">
              <a:latin typeface="Times New Roman" panose="02020603050405020304" charset="0"/>
            </a:endParaRPr>
          </a:p>
          <a:p>
            <a:r>
              <a:rPr lang="en-GB" sz="2400" dirty="0">
                <a:latin typeface="Times New Roman" panose="02020603050405020304" charset="0"/>
              </a:rPr>
              <a:t>Dispense the sample volume into the sample well of the strip. After LED light flashes reaction is finished and a printout is printed with the results from the instrument’s side compartment. </a:t>
            </a:r>
            <a:endParaRPr lang="en-GB" sz="2400" dirty="0">
              <a:latin typeface="Times New Roman" panose="02020603050405020304" charset="0"/>
            </a:endParaRPr>
          </a:p>
          <a:p>
            <a:r>
              <a:rPr lang="en-GB" sz="2400" dirty="0">
                <a:solidFill>
                  <a:schemeClr val="accent1">
                    <a:lumMod val="60000"/>
                    <a:lumOff val="40000"/>
                  </a:schemeClr>
                </a:solidFill>
                <a:latin typeface="Times New Roman" panose="02020603050405020304" charset="0"/>
              </a:rPr>
              <a:t>Will the assays need to have the patient sample diluted manually, or will there be an option to do this automatically on the instrument?</a:t>
            </a:r>
            <a:endParaRPr lang="en-GB" sz="2400" dirty="0">
              <a:solidFill>
                <a:schemeClr val="accent1">
                  <a:lumMod val="60000"/>
                  <a:lumOff val="40000"/>
                </a:schemeClr>
              </a:solidFill>
              <a:latin typeface="Times New Roman" panose="02020603050405020304" charset="0"/>
            </a:endParaRPr>
          </a:p>
          <a:p>
            <a:endParaRPr lang="en-GB" sz="2400" dirty="0">
              <a:solidFill>
                <a:schemeClr val="accent1">
                  <a:lumMod val="60000"/>
                  <a:lumOff val="40000"/>
                </a:schemeClr>
              </a:solidFill>
              <a:latin typeface="Times New Roman" panose="02020603050405020304" charset="0"/>
            </a:endParaRPr>
          </a:p>
          <a:p>
            <a:endParaRPr lang="en-GB" dirty="0"/>
          </a:p>
          <a:p>
            <a:endParaRPr lang="en-GB" dirty="0"/>
          </a:p>
          <a:p>
            <a:endParaRPr lang="en-GB" dirty="0"/>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t>P</a:t>
            </a:r>
            <a:r>
              <a:rPr lang="en-GB" sz="2800" dirty="0">
                <a:solidFill>
                  <a:schemeClr val="bg2">
                    <a:lumMod val="20000"/>
                    <a:lumOff val="80000"/>
                  </a:schemeClr>
                </a:solidFill>
              </a:rPr>
              <a:t>rinciple of analyser and antibody capture assay</a:t>
            </a:r>
            <a:endParaRPr lang="en-GB" sz="2800" dirty="0">
              <a:solidFill>
                <a:schemeClr val="bg2">
                  <a:lumMod val="20000"/>
                  <a:lumOff val="80000"/>
                </a:schemeClr>
              </a:solidFill>
            </a:endParaRPr>
          </a:p>
        </p:txBody>
      </p:sp>
      <p:sp>
        <p:nvSpPr>
          <p:cNvPr id="3" name="Content Placeholder 2"/>
          <p:cNvSpPr>
            <a:spLocks noGrp="1"/>
          </p:cNvSpPr>
          <p:nvPr>
            <p:ph sz="half" idx="1"/>
          </p:nvPr>
        </p:nvSpPr>
        <p:spPr>
          <a:xfrm>
            <a:off x="519661" y="1271673"/>
            <a:ext cx="7239635" cy="4810471"/>
          </a:xfrm>
        </p:spPr>
        <p:txBody>
          <a:bodyPr>
            <a:normAutofit fontScale="90000" lnSpcReduction="10000"/>
          </a:bodyPr>
          <a:lstStyle/>
          <a:p>
            <a:r>
              <a:rPr lang="en-GB" sz="2400" dirty="0">
                <a:latin typeface="Times New Roman" panose="02020603050405020304" charset="0"/>
              </a:rPr>
              <a:t>Solid phase receptacle SPR® is a plastic (polystyrene) device capable of capturing soluble proteins, viruses and bacteria. Within the solid phase base is the capture Ag/Ab to form the sandwich assay and catalyse substrate into fluorescent end product measured at 450 nm. </a:t>
            </a:r>
            <a:endParaRPr lang="en-GB" sz="2800" dirty="0" smtClean="0">
              <a:latin typeface="Times New Roman" panose="02020603050405020304" charset="0"/>
            </a:endParaRPr>
          </a:p>
          <a:p>
            <a:endParaRPr lang="en-GB" sz="3200" dirty="0" smtClean="0">
              <a:latin typeface="Times New Roman" panose="02020603050405020304" charset="0"/>
            </a:endParaRPr>
          </a:p>
          <a:p>
            <a:r>
              <a:rPr lang="en-GB" sz="2400" dirty="0">
                <a:latin typeface="Times New Roman" panose="02020603050405020304" charset="0"/>
              </a:rPr>
              <a:t>Reagents are already in the reagent strips</a:t>
            </a:r>
            <a:r>
              <a:rPr lang="en-GB" sz="2400" dirty="0" smtClean="0">
                <a:latin typeface="Times New Roman" panose="02020603050405020304" charset="0"/>
              </a:rPr>
              <a:t>.</a:t>
            </a:r>
            <a:endParaRPr lang="en-GB" sz="2400" dirty="0" smtClean="0">
              <a:latin typeface="Times New Roman" panose="02020603050405020304" charset="0"/>
            </a:endParaRPr>
          </a:p>
          <a:p>
            <a:pPr marL="0" indent="0">
              <a:buNone/>
            </a:pPr>
            <a:endParaRPr lang="en-GB" sz="2800" dirty="0" smtClean="0">
              <a:latin typeface="Times New Roman" panose="02020603050405020304" charset="0"/>
            </a:endParaRPr>
          </a:p>
          <a:p>
            <a:r>
              <a:rPr lang="en-GB" sz="2400" dirty="0">
                <a:latin typeface="Times New Roman" panose="02020603050405020304" charset="0"/>
              </a:rPr>
              <a:t>4-Methyl-umbelliferyl phosphate is the substrate. </a:t>
            </a:r>
            <a:endParaRPr lang="en-GB" sz="2800" dirty="0" smtClean="0">
              <a:latin typeface="Times New Roman" panose="02020603050405020304" charset="0"/>
            </a:endParaRPr>
          </a:p>
          <a:p>
            <a:endParaRPr lang="en-GB" sz="3200" dirty="0" smtClean="0">
              <a:latin typeface="Times New Roman" panose="02020603050405020304" charset="0"/>
            </a:endParaRPr>
          </a:p>
          <a:p>
            <a:r>
              <a:rPr lang="en-GB" sz="2400" dirty="0">
                <a:latin typeface="Times New Roman" panose="02020603050405020304" charset="0"/>
              </a:rPr>
              <a:t>Method of calculating fluorescence relative to standard/ reference/ curve fitting depends on the assay used.</a:t>
            </a:r>
            <a:endParaRPr lang="en-GB" sz="2400" dirty="0">
              <a:latin typeface="Times New Roman" panose="02020603050405020304" charset="0"/>
            </a:endParaRPr>
          </a:p>
          <a:p>
            <a:endParaRPr lang="en-GB" sz="2400" dirty="0">
              <a:latin typeface="Times New Roman" panose="02020603050405020304" charset="0"/>
            </a:endParaRPr>
          </a:p>
          <a:p>
            <a:endParaRPr lang="en-GB" dirty="0"/>
          </a:p>
          <a:p>
            <a:endParaRPr lang="en-GB" dirty="0"/>
          </a:p>
          <a:p>
            <a:endParaRPr lang="en-GB" dirty="0"/>
          </a:p>
          <a:p>
            <a:endParaRPr lang="en-GB" dirty="0"/>
          </a:p>
        </p:txBody>
      </p:sp>
      <p:pic>
        <p:nvPicPr>
          <p:cNvPr id="4" name="Picture 3"/>
          <p:cNvPicPr>
            <a:picLocks noChangeAspect="1"/>
          </p:cNvPicPr>
          <p:nvPr/>
        </p:nvPicPr>
        <p:blipFill>
          <a:blip r:embed="rId1"/>
          <a:stretch>
            <a:fillRect/>
          </a:stretch>
        </p:blipFill>
        <p:spPr>
          <a:xfrm>
            <a:off x="8174182" y="3945917"/>
            <a:ext cx="3325091" cy="1976437"/>
          </a:xfrm>
          <a:prstGeom prst="rect">
            <a:avLst/>
          </a:prstGeom>
        </p:spPr>
      </p:pic>
      <p:pic>
        <p:nvPicPr>
          <p:cNvPr id="5" name="Content Placeholder 4"/>
          <p:cNvPicPr>
            <a:picLocks noGrp="1" noChangeAspect="1"/>
          </p:cNvPicPr>
          <p:nvPr>
            <p:ph sz="half" idx="2"/>
          </p:nvPr>
        </p:nvPicPr>
        <p:blipFill>
          <a:blip r:embed="rId2"/>
          <a:stretch>
            <a:fillRect/>
          </a:stretch>
        </p:blipFill>
        <p:spPr>
          <a:xfrm>
            <a:off x="8277860" y="1393825"/>
            <a:ext cx="2736504" cy="2289962"/>
          </a:xfrm>
          <a:prstGeom prst="rect">
            <a:avLst/>
          </a:prstGeom>
        </p:spPr>
      </p:pic>
      <p:sp>
        <p:nvSpPr>
          <p:cNvPr id="6" name="Slide Number Placeholder 5"/>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4" y="166255"/>
            <a:ext cx="10018713" cy="1168400"/>
          </a:xfrm>
        </p:spPr>
        <p:txBody>
          <a:bodyPr/>
          <a:lstStyle/>
          <a:p>
            <a:r>
              <a:rPr lang="en-GB" sz="3200" dirty="0">
                <a:solidFill>
                  <a:schemeClr val="bg2">
                    <a:lumMod val="20000"/>
                    <a:lumOff val="80000"/>
                  </a:schemeClr>
                </a:solidFill>
                <a:latin typeface="Times New Roman" panose="02020603050405020304" charset="0"/>
              </a:rPr>
              <a:t>Maintenance and laboratory resources</a:t>
            </a:r>
            <a:endParaRPr lang="en-GB" sz="3200" dirty="0">
              <a:solidFill>
                <a:schemeClr val="bg2">
                  <a:lumMod val="20000"/>
                  <a:lumOff val="80000"/>
                </a:schemeClr>
              </a:solidFill>
              <a:latin typeface="Times New Roman" panose="02020603050405020304" charset="0"/>
            </a:endParaRPr>
          </a:p>
        </p:txBody>
      </p:sp>
      <p:sp>
        <p:nvSpPr>
          <p:cNvPr id="3" name="Content Placeholder 2"/>
          <p:cNvSpPr>
            <a:spLocks noGrp="1"/>
          </p:cNvSpPr>
          <p:nvPr>
            <p:ph idx="1"/>
          </p:nvPr>
        </p:nvSpPr>
        <p:spPr>
          <a:xfrm>
            <a:off x="504190" y="1157605"/>
            <a:ext cx="11226800" cy="5202555"/>
          </a:xfrm>
        </p:spPr>
        <p:txBody>
          <a:bodyPr>
            <a:noAutofit/>
          </a:bodyPr>
          <a:lstStyle/>
          <a:p>
            <a:r>
              <a:rPr lang="en-GB" dirty="0">
                <a:latin typeface="Times New Roman" panose="02020603050405020304" charset="0"/>
              </a:rPr>
              <a:t>Monthly: Cleaning of the SPR® block Cleaning of the two optical lenses.</a:t>
            </a:r>
            <a:endParaRPr lang="en-GB" dirty="0">
              <a:latin typeface="Times New Roman" panose="02020603050405020304" charset="0"/>
            </a:endParaRPr>
          </a:p>
          <a:p>
            <a:r>
              <a:rPr lang="en-GB" dirty="0">
                <a:latin typeface="Times New Roman" panose="02020603050405020304" charset="0"/>
              </a:rPr>
              <a:t>Performing VIDAS® QCV test Every 6 Months: Cleaning of the reagent strip area.</a:t>
            </a:r>
            <a:endParaRPr lang="en-GB" dirty="0">
              <a:latin typeface="Times New Roman" panose="02020603050405020304" charset="0"/>
            </a:endParaRPr>
          </a:p>
          <a:p>
            <a:r>
              <a:rPr lang="en-GB" dirty="0">
                <a:latin typeface="Times New Roman" panose="02020603050405020304" charset="0"/>
              </a:rPr>
              <a:t>Yearly: A preventive maintenance has to be done by a </a:t>
            </a:r>
            <a:r>
              <a:rPr lang="en-GB" dirty="0" err="1">
                <a:latin typeface="Times New Roman" panose="02020603050405020304" charset="0"/>
              </a:rPr>
              <a:t>bioMérieux</a:t>
            </a:r>
            <a:r>
              <a:rPr lang="en-GB" dirty="0">
                <a:latin typeface="Times New Roman" panose="02020603050405020304" charset="0"/>
              </a:rPr>
              <a:t> representative.</a:t>
            </a:r>
            <a:endParaRPr lang="en-GB" dirty="0">
              <a:latin typeface="Times New Roman" panose="02020603050405020304" charset="0"/>
            </a:endParaRPr>
          </a:p>
          <a:p>
            <a:endParaRPr lang="en-GB" sz="1800" dirty="0">
              <a:latin typeface="Times New Roman" panose="02020603050405020304" charset="0"/>
            </a:endParaRPr>
          </a:p>
          <a:p>
            <a:r>
              <a:rPr lang="en-GB" dirty="0">
                <a:latin typeface="Times New Roman" panose="02020603050405020304" charset="0"/>
              </a:rPr>
              <a:t>QCV is quality control </a:t>
            </a:r>
            <a:r>
              <a:rPr lang="en-GB" dirty="0" err="1">
                <a:latin typeface="Times New Roman" panose="02020603050405020304" charset="0"/>
              </a:rPr>
              <a:t>Vidas</a:t>
            </a:r>
            <a:r>
              <a:rPr lang="en-GB" dirty="0">
                <a:latin typeface="Times New Roman" panose="02020603050405020304" charset="0"/>
              </a:rPr>
              <a:t> intended to check correct automated pipetting by the system. QCV must be run on all 12 of the used slots of 2 compartments. </a:t>
            </a:r>
            <a:endParaRPr lang="en-GB" dirty="0">
              <a:latin typeface="Times New Roman" panose="02020603050405020304" charset="0"/>
            </a:endParaRPr>
          </a:p>
          <a:p>
            <a:r>
              <a:rPr lang="en-GB" dirty="0" smtClean="0">
                <a:latin typeface="Times New Roman" panose="02020603050405020304" charset="0"/>
              </a:rPr>
              <a:t>20 </a:t>
            </a:r>
            <a:r>
              <a:rPr lang="en-GB" dirty="0">
                <a:latin typeface="Times New Roman" panose="02020603050405020304" charset="0"/>
              </a:rPr>
              <a:t>minutes </a:t>
            </a:r>
            <a:r>
              <a:rPr lang="en-GB" dirty="0" smtClean="0">
                <a:latin typeface="Times New Roman" panose="02020603050405020304" charset="0"/>
              </a:rPr>
              <a:t>	</a:t>
            </a:r>
            <a:endParaRPr lang="en-GB" dirty="0" smtClean="0">
              <a:latin typeface="Times New Roman" panose="02020603050405020304" charset="0"/>
            </a:endParaRPr>
          </a:p>
          <a:p>
            <a:pPr marL="0" indent="0">
              <a:buNone/>
            </a:pPr>
            <a:endParaRPr lang="en-GB" dirty="0" smtClean="0">
              <a:latin typeface="Times New Roman" panose="02020603050405020304" charset="0"/>
            </a:endParaRPr>
          </a:p>
          <a:p>
            <a:r>
              <a:rPr lang="en-GB" dirty="0" smtClean="0">
                <a:latin typeface="Times New Roman" panose="02020603050405020304" charset="0"/>
              </a:rPr>
              <a:t>checks </a:t>
            </a:r>
            <a:r>
              <a:rPr lang="en-GB" dirty="0">
                <a:latin typeface="Times New Roman" panose="02020603050405020304" charset="0"/>
              </a:rPr>
              <a:t>the optical performance of the fluorescent sensory system. </a:t>
            </a:r>
            <a:endParaRPr lang="en-GB" dirty="0">
              <a:latin typeface="Times New Roman" panose="02020603050405020304" charset="0"/>
            </a:endParaRPr>
          </a:p>
          <a:p>
            <a:r>
              <a:rPr lang="en-GB" dirty="0">
                <a:latin typeface="Times New Roman" panose="02020603050405020304" charset="0"/>
              </a:rPr>
              <a:t>If slots fluorescence is out of range of the quantifiable </a:t>
            </a:r>
            <a:r>
              <a:rPr lang="en-GB" dirty="0" smtClean="0">
                <a:latin typeface="Times New Roman" panose="02020603050405020304" charset="0"/>
              </a:rPr>
              <a:t>fluorescence </a:t>
            </a:r>
            <a:r>
              <a:rPr lang="en-GB" dirty="0">
                <a:latin typeface="Times New Roman" panose="02020603050405020304" charset="0"/>
              </a:rPr>
              <a:t>then run twice more. TV1 fluorescence value must be greater than the kit value near the barcode of the kit.   </a:t>
            </a:r>
            <a:endParaRPr lang="en-GB" dirty="0">
              <a:latin typeface="Times New Roman" panose="02020603050405020304" charset="0"/>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241425" y="1063625"/>
            <a:ext cx="8679180" cy="4981575"/>
          </a:xfrm>
          <a:prstGeom prst="rect">
            <a:avLst/>
          </a:prstGeom>
        </p:spPr>
      </p:pic>
      <p:sp>
        <p:nvSpPr>
          <p:cNvPr id="2" name="Title 1"/>
          <p:cNvSpPr>
            <a:spLocks noGrp="1"/>
          </p:cNvSpPr>
          <p:nvPr>
            <p:ph type="title"/>
          </p:nvPr>
        </p:nvSpPr>
        <p:spPr>
          <a:xfrm>
            <a:off x="1241739" y="151130"/>
            <a:ext cx="10018713" cy="1752599"/>
          </a:xfrm>
        </p:spPr>
        <p:txBody>
          <a:bodyPr/>
          <a:lstStyle/>
          <a:p>
            <a:r>
              <a:rPr lang="en-GB" sz="3200" dirty="0">
                <a:solidFill>
                  <a:schemeClr val="bg2">
                    <a:lumMod val="20000"/>
                    <a:lumOff val="80000"/>
                  </a:schemeClr>
                </a:solidFill>
                <a:latin typeface="Times New Roman" panose="02020603050405020304" charset="0"/>
              </a:rPr>
              <a:t>Patient results fluorescence IU/ml titres interpretation</a:t>
            </a:r>
            <a:endParaRPr lang="en-GB" sz="3200" dirty="0">
              <a:solidFill>
                <a:schemeClr val="bg2">
                  <a:lumMod val="20000"/>
                  <a:lumOff val="80000"/>
                </a:schemeClr>
              </a:solidFill>
              <a:latin typeface="Times New Roman" panose="02020603050405020304" charset="0"/>
            </a:endParaRPr>
          </a:p>
        </p:txBody>
      </p:sp>
      <p:sp>
        <p:nvSpPr>
          <p:cNvPr id="3" name="Slide Number Placeholder 2"/>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221" y="272609"/>
            <a:ext cx="9404723" cy="1400530"/>
          </a:xfrm>
        </p:spPr>
        <p:txBody>
          <a:bodyPr/>
          <a:lstStyle/>
          <a:p>
            <a:r>
              <a:rPr lang="en-GB" sz="3200" dirty="0">
                <a:latin typeface="Times New Roman" panose="02020603050405020304" charset="0"/>
              </a:rPr>
              <a:t>Publication of </a:t>
            </a:r>
            <a:r>
              <a:rPr lang="en-GB" sz="3200" dirty="0" smtClean="0">
                <a:latin typeface="Times New Roman" panose="02020603050405020304" charset="0"/>
              </a:rPr>
              <a:t>Mini </a:t>
            </a:r>
            <a:r>
              <a:rPr lang="en-GB" sz="3200" dirty="0" err="1" smtClean="0">
                <a:latin typeface="Times New Roman" panose="02020603050405020304" charset="0"/>
              </a:rPr>
              <a:t>Vidas</a:t>
            </a:r>
            <a:r>
              <a:rPr lang="en-GB" sz="3200" dirty="0" smtClean="0">
                <a:latin typeface="Times New Roman" panose="02020603050405020304" charset="0"/>
              </a:rPr>
              <a:t> assays:</a:t>
            </a:r>
            <a:endParaRPr lang="en-GB" sz="3200" dirty="0" smtClean="0">
              <a:latin typeface="Times New Roman" panose="02020603050405020304" charset="0"/>
            </a:endParaRPr>
          </a:p>
        </p:txBody>
      </p:sp>
      <p:sp>
        <p:nvSpPr>
          <p:cNvPr id="3" name="Content Placeholder 2"/>
          <p:cNvSpPr>
            <a:spLocks noGrp="1"/>
          </p:cNvSpPr>
          <p:nvPr>
            <p:ph idx="1"/>
          </p:nvPr>
        </p:nvSpPr>
        <p:spPr>
          <a:xfrm>
            <a:off x="581891" y="872836"/>
            <a:ext cx="11291454" cy="5486400"/>
          </a:xfrm>
        </p:spPr>
        <p:txBody>
          <a:bodyPr>
            <a:noAutofit/>
          </a:bodyPr>
          <a:lstStyle/>
          <a:p>
            <a:r>
              <a:rPr lang="en-IE" sz="1200" dirty="0">
                <a:latin typeface="Times New Roman" panose="02020603050405020304" charset="0"/>
                <a:hlinkClick r:id="rId1"/>
              </a:rPr>
              <a:t>Re-Evaluation of the VIDAS® Cytomegalovirus (CMV) </a:t>
            </a:r>
            <a:r>
              <a:rPr lang="en-IE" sz="1200" dirty="0" err="1">
                <a:latin typeface="Times New Roman" panose="02020603050405020304" charset="0"/>
                <a:hlinkClick r:id="rId1"/>
              </a:rPr>
              <a:t>IgG</a:t>
            </a:r>
            <a:r>
              <a:rPr lang="en-IE" sz="1200" dirty="0">
                <a:latin typeface="Times New Roman" panose="02020603050405020304" charset="0"/>
                <a:hlinkClick r:id="rId1"/>
              </a:rPr>
              <a:t> Avidity Assay: Determination of New Cut-Off Values Based on the Study of Kinetics of CMV-</a:t>
            </a:r>
            <a:r>
              <a:rPr lang="en-IE" sz="1200" dirty="0" err="1">
                <a:latin typeface="Times New Roman" panose="02020603050405020304" charset="0"/>
                <a:hlinkClick r:id="rId1"/>
              </a:rPr>
              <a:t>IgG</a:t>
            </a:r>
            <a:r>
              <a:rPr lang="en-IE" sz="1200" dirty="0">
                <a:latin typeface="Times New Roman" panose="02020603050405020304" charset="0"/>
                <a:hlinkClick r:id="rId1"/>
              </a:rPr>
              <a:t> Maturation</a:t>
            </a:r>
            <a:br>
              <a:rPr lang="en-IE" sz="1200" dirty="0">
                <a:latin typeface="Times New Roman" panose="02020603050405020304" charset="0"/>
              </a:rPr>
            </a:br>
            <a:r>
              <a:rPr lang="en-IE" sz="1200" dirty="0" err="1">
                <a:latin typeface="Times New Roman" panose="02020603050405020304" charset="0"/>
              </a:rPr>
              <a:t>Vauloup-Fellous</a:t>
            </a:r>
            <a:r>
              <a:rPr lang="en-IE" sz="1200" dirty="0">
                <a:latin typeface="Times New Roman" panose="02020603050405020304" charset="0"/>
              </a:rPr>
              <a:t> C., Berth M., </a:t>
            </a:r>
            <a:r>
              <a:rPr lang="en-IE" sz="1200" dirty="0" err="1">
                <a:latin typeface="Times New Roman" panose="02020603050405020304" charset="0"/>
              </a:rPr>
              <a:t>Heskia</a:t>
            </a:r>
            <a:r>
              <a:rPr lang="en-IE" sz="1200" dirty="0">
                <a:latin typeface="Times New Roman" panose="02020603050405020304" charset="0"/>
              </a:rPr>
              <a:t> F., </a:t>
            </a:r>
            <a:r>
              <a:rPr lang="en-IE" sz="1200" dirty="0" err="1">
                <a:latin typeface="Times New Roman" panose="02020603050405020304" charset="0"/>
              </a:rPr>
              <a:t>Dugua</a:t>
            </a:r>
            <a:r>
              <a:rPr lang="en-IE" sz="1200" dirty="0">
                <a:latin typeface="Times New Roman" panose="02020603050405020304" charset="0"/>
              </a:rPr>
              <a:t> J.M., </a:t>
            </a:r>
            <a:r>
              <a:rPr lang="en-IE" sz="1200" dirty="0" err="1">
                <a:latin typeface="Times New Roman" panose="02020603050405020304" charset="0"/>
              </a:rPr>
              <a:t>Grangeot-Keros</a:t>
            </a:r>
            <a:r>
              <a:rPr lang="en-IE" sz="1200" dirty="0">
                <a:latin typeface="Times New Roman" panose="02020603050405020304" charset="0"/>
              </a:rPr>
              <a:t> L.</a:t>
            </a:r>
            <a:br>
              <a:rPr lang="en-IE" sz="1200" dirty="0">
                <a:latin typeface="Times New Roman" panose="02020603050405020304" charset="0"/>
              </a:rPr>
            </a:br>
            <a:r>
              <a:rPr lang="en-IE" sz="1200" i="1" dirty="0">
                <a:latin typeface="Times New Roman" panose="02020603050405020304" charset="0"/>
              </a:rPr>
              <a:t>Journal of Clinical Virology : the Official Publication of the Pan American Society for Clinical Virology </a:t>
            </a:r>
            <a:r>
              <a:rPr lang="en-IE" sz="1200" i="1" dirty="0" smtClean="0">
                <a:latin typeface="Times New Roman" panose="02020603050405020304" charset="0"/>
              </a:rPr>
              <a:t>2013</a:t>
            </a:r>
            <a:endParaRPr lang="en-IE" sz="1000" i="1" dirty="0" smtClean="0">
              <a:latin typeface="Times New Roman" panose="02020603050405020304" charset="0"/>
              <a:hlinkClick r:id="rId2"/>
            </a:endParaRPr>
          </a:p>
          <a:p>
            <a:r>
              <a:rPr lang="en-IE" sz="1200" dirty="0">
                <a:latin typeface="Times New Roman" panose="02020603050405020304" charset="0"/>
              </a:rPr>
              <a:t>Dina, J., </a:t>
            </a:r>
            <a:r>
              <a:rPr lang="en-IE" sz="1200" dirty="0" err="1">
                <a:latin typeface="Times New Roman" panose="02020603050405020304" charset="0"/>
              </a:rPr>
              <a:t>Creveuil</a:t>
            </a:r>
            <a:r>
              <a:rPr lang="en-IE" sz="1200" dirty="0">
                <a:latin typeface="Times New Roman" panose="02020603050405020304" charset="0"/>
              </a:rPr>
              <a:t>, C., </a:t>
            </a:r>
            <a:r>
              <a:rPr lang="en-IE" sz="1200" dirty="0" err="1">
                <a:latin typeface="Times New Roman" panose="02020603050405020304" charset="0"/>
              </a:rPr>
              <a:t>Gouarin</a:t>
            </a:r>
            <a:r>
              <a:rPr lang="en-IE" sz="1200" dirty="0">
                <a:latin typeface="Times New Roman" panose="02020603050405020304" charset="0"/>
              </a:rPr>
              <a:t>, S., </a:t>
            </a:r>
            <a:r>
              <a:rPr lang="en-IE" sz="1200" dirty="0" err="1">
                <a:latin typeface="Times New Roman" panose="02020603050405020304" charset="0"/>
              </a:rPr>
              <a:t>Viron</a:t>
            </a:r>
            <a:r>
              <a:rPr lang="en-IE" sz="1200" dirty="0">
                <a:latin typeface="Times New Roman" panose="02020603050405020304" charset="0"/>
              </a:rPr>
              <a:t>, F., Hebert, A., </a:t>
            </a:r>
            <a:r>
              <a:rPr lang="en-IE" sz="1200" dirty="0" err="1">
                <a:latin typeface="Times New Roman" panose="02020603050405020304" charset="0"/>
              </a:rPr>
              <a:t>Freymuth</a:t>
            </a:r>
            <a:r>
              <a:rPr lang="en-IE" sz="1200" dirty="0">
                <a:latin typeface="Times New Roman" panose="02020603050405020304" charset="0"/>
              </a:rPr>
              <a:t>, F., </a:t>
            </a:r>
            <a:r>
              <a:rPr lang="en-IE" sz="1200" dirty="0" err="1">
                <a:latin typeface="Times New Roman" panose="02020603050405020304" charset="0"/>
              </a:rPr>
              <a:t>Vabret</a:t>
            </a:r>
            <a:r>
              <a:rPr lang="en-IE" sz="1200" dirty="0">
                <a:latin typeface="Times New Roman" panose="02020603050405020304" charset="0"/>
              </a:rPr>
              <a:t>, A. (2016) "Performance Evaluation of the VIDAS® Measles </a:t>
            </a:r>
            <a:r>
              <a:rPr lang="en-IE" sz="1200" dirty="0" err="1">
                <a:latin typeface="Times New Roman" panose="02020603050405020304" charset="0"/>
              </a:rPr>
              <a:t>IgG</a:t>
            </a:r>
            <a:r>
              <a:rPr lang="en-IE" sz="1200" dirty="0">
                <a:latin typeface="Times New Roman" panose="02020603050405020304" charset="0"/>
              </a:rPr>
              <a:t> Assay and Its Diagnostic Value for Measuring </a:t>
            </a:r>
            <a:r>
              <a:rPr lang="en-IE" sz="1200" dirty="0" err="1">
                <a:latin typeface="Times New Roman" panose="02020603050405020304" charset="0"/>
              </a:rPr>
              <a:t>IgG</a:t>
            </a:r>
            <a:r>
              <a:rPr lang="en-IE" sz="1200" dirty="0">
                <a:latin typeface="Times New Roman" panose="02020603050405020304" charset="0"/>
              </a:rPr>
              <a:t> Antibody Avidity in Measles Virus Infection", </a:t>
            </a:r>
            <a:r>
              <a:rPr lang="en-IE" sz="1200" i="1" dirty="0">
                <a:latin typeface="Times New Roman" panose="02020603050405020304" charset="0"/>
              </a:rPr>
              <a:t>Viruses</a:t>
            </a:r>
            <a:r>
              <a:rPr lang="en-IE" sz="1200" dirty="0">
                <a:latin typeface="Times New Roman" panose="02020603050405020304" charset="0"/>
              </a:rPr>
              <a:t>, 8(8), 234</a:t>
            </a:r>
            <a:r>
              <a:rPr lang="en-IE" sz="1200" dirty="0" smtClean="0">
                <a:latin typeface="Times New Roman" panose="02020603050405020304" charset="0"/>
              </a:rPr>
              <a:t>.</a:t>
            </a:r>
            <a:endParaRPr lang="en-IE" sz="1200" dirty="0" smtClean="0">
              <a:latin typeface="Times New Roman" panose="02020603050405020304" charset="0"/>
            </a:endParaRPr>
          </a:p>
          <a:p>
            <a:r>
              <a:rPr lang="en-IE" sz="1200" dirty="0" err="1">
                <a:latin typeface="Times New Roman" panose="02020603050405020304" charset="0"/>
              </a:rPr>
              <a:t>Huzly</a:t>
            </a:r>
            <a:r>
              <a:rPr lang="en-IE" sz="1200" dirty="0">
                <a:latin typeface="Times New Roman" panose="02020603050405020304" charset="0"/>
              </a:rPr>
              <a:t>, D., </a:t>
            </a:r>
            <a:r>
              <a:rPr lang="en-IE" sz="1200" dirty="0" err="1">
                <a:latin typeface="Times New Roman" panose="02020603050405020304" charset="0"/>
              </a:rPr>
              <a:t>Hanselmann</a:t>
            </a:r>
            <a:r>
              <a:rPr lang="en-IE" sz="1200" dirty="0">
                <a:latin typeface="Times New Roman" panose="02020603050405020304" charset="0"/>
              </a:rPr>
              <a:t>, I., Neumann-</a:t>
            </a:r>
            <a:r>
              <a:rPr lang="en-IE" sz="1200" dirty="0" err="1">
                <a:latin typeface="Times New Roman" panose="02020603050405020304" charset="0"/>
              </a:rPr>
              <a:t>Haefelin</a:t>
            </a:r>
            <a:r>
              <a:rPr lang="en-IE" sz="1200" dirty="0">
                <a:latin typeface="Times New Roman" panose="02020603050405020304" charset="0"/>
              </a:rPr>
              <a:t>, D., Panning, M. (2016) "Performance of 14 rubella </a:t>
            </a:r>
            <a:r>
              <a:rPr lang="en-IE" sz="1200" dirty="0" err="1">
                <a:latin typeface="Times New Roman" panose="02020603050405020304" charset="0"/>
              </a:rPr>
              <a:t>IgG</a:t>
            </a:r>
            <a:r>
              <a:rPr lang="en-IE" sz="1200" dirty="0">
                <a:latin typeface="Times New Roman" panose="02020603050405020304" charset="0"/>
              </a:rPr>
              <a:t> immunoassays on samples with low positive or negative </a:t>
            </a:r>
            <a:r>
              <a:rPr lang="en-IE" sz="1200" dirty="0" err="1">
                <a:latin typeface="Times New Roman" panose="02020603050405020304" charset="0"/>
              </a:rPr>
              <a:t>haemagglutination</a:t>
            </a:r>
            <a:r>
              <a:rPr lang="en-IE" sz="1200" dirty="0">
                <a:latin typeface="Times New Roman" panose="02020603050405020304" charset="0"/>
              </a:rPr>
              <a:t> inhibition results", </a:t>
            </a:r>
            <a:r>
              <a:rPr lang="en-IE" sz="1200" i="1" dirty="0">
                <a:latin typeface="Times New Roman" panose="02020603050405020304" charset="0"/>
              </a:rPr>
              <a:t>Journal of Clinical Virology</a:t>
            </a:r>
            <a:r>
              <a:rPr lang="en-IE" sz="1200" dirty="0">
                <a:latin typeface="Times New Roman" panose="02020603050405020304" charset="0"/>
              </a:rPr>
              <a:t>, 74, 13-18</a:t>
            </a:r>
            <a:r>
              <a:rPr lang="en-IE" sz="1200" dirty="0" smtClean="0">
                <a:latin typeface="Times New Roman" panose="02020603050405020304" charset="0"/>
              </a:rPr>
              <a:t>.</a:t>
            </a:r>
            <a:endParaRPr lang="en-IE" sz="1000" dirty="0" smtClean="0">
              <a:latin typeface="Times New Roman" panose="02020603050405020304" charset="0"/>
              <a:hlinkClick r:id="rId2"/>
            </a:endParaRPr>
          </a:p>
          <a:p>
            <a:r>
              <a:rPr lang="en-IE" sz="1200" dirty="0" err="1">
                <a:latin typeface="Times New Roman" panose="02020603050405020304" charset="0"/>
              </a:rPr>
              <a:t>Saville</a:t>
            </a:r>
            <a:r>
              <a:rPr lang="en-IE" sz="1200" dirty="0">
                <a:latin typeface="Times New Roman" panose="02020603050405020304" charset="0"/>
              </a:rPr>
              <a:t>, R., Constantine, N., </a:t>
            </a:r>
            <a:r>
              <a:rPr lang="en-IE" sz="1200" dirty="0" err="1">
                <a:latin typeface="Times New Roman" panose="02020603050405020304" charset="0"/>
              </a:rPr>
              <a:t>Cleghorn</a:t>
            </a:r>
            <a:r>
              <a:rPr lang="en-IE" sz="1200" dirty="0">
                <a:latin typeface="Times New Roman" panose="02020603050405020304" charset="0"/>
              </a:rPr>
              <a:t>, F., Jack, N., Bartholomew, C., Edwards, J., Gomez, P., </a:t>
            </a:r>
            <a:r>
              <a:rPr lang="en-IE" sz="1200" dirty="0" err="1">
                <a:latin typeface="Times New Roman" panose="02020603050405020304" charset="0"/>
              </a:rPr>
              <a:t>Blattner</a:t>
            </a:r>
            <a:r>
              <a:rPr lang="en-IE" sz="1200" dirty="0">
                <a:latin typeface="Times New Roman" panose="02020603050405020304" charset="0"/>
              </a:rPr>
              <a:t>, W. (2001) "Fourth-Generation Enzyme-Linked </a:t>
            </a:r>
            <a:r>
              <a:rPr lang="en-IE" sz="1200" dirty="0" err="1">
                <a:latin typeface="Times New Roman" panose="02020603050405020304" charset="0"/>
              </a:rPr>
              <a:t>Immunosorbent</a:t>
            </a:r>
            <a:r>
              <a:rPr lang="en-IE" sz="1200" dirty="0">
                <a:latin typeface="Times New Roman" panose="02020603050405020304" charset="0"/>
              </a:rPr>
              <a:t> Assay for the Simultaneous Detection of Human Immunodeficiency Virus Antigen and Antibody", </a:t>
            </a:r>
            <a:r>
              <a:rPr lang="en-IE" sz="1200" i="1" dirty="0">
                <a:latin typeface="Times New Roman" panose="02020603050405020304" charset="0"/>
              </a:rPr>
              <a:t>Journal of Clinical Microbiology</a:t>
            </a:r>
            <a:r>
              <a:rPr lang="en-IE" sz="1200" dirty="0">
                <a:latin typeface="Times New Roman" panose="02020603050405020304" charset="0"/>
              </a:rPr>
              <a:t>, 39(7), 2518-2524</a:t>
            </a:r>
            <a:r>
              <a:rPr lang="en-IE" sz="1200" dirty="0" smtClean="0">
                <a:latin typeface="Times New Roman" panose="02020603050405020304" charset="0"/>
              </a:rPr>
              <a:t>.</a:t>
            </a:r>
            <a:endParaRPr lang="en-IE" sz="1200" dirty="0" smtClean="0">
              <a:latin typeface="Times New Roman" panose="02020603050405020304" charset="0"/>
            </a:endParaRPr>
          </a:p>
          <a:p>
            <a:r>
              <a:rPr lang="en-IE" sz="1200" dirty="0">
                <a:latin typeface="Times New Roman" panose="02020603050405020304" charset="0"/>
              </a:rPr>
              <a:t>Hyun, J., </a:t>
            </a:r>
            <a:r>
              <a:rPr lang="en-IE" sz="1200" dirty="0" err="1">
                <a:latin typeface="Times New Roman" panose="02020603050405020304" charset="0"/>
              </a:rPr>
              <a:t>Ko</a:t>
            </a:r>
            <a:r>
              <a:rPr lang="en-IE" sz="1200" dirty="0">
                <a:latin typeface="Times New Roman" panose="02020603050405020304" charset="0"/>
              </a:rPr>
              <a:t>, D., Kang, H., </a:t>
            </a:r>
            <a:r>
              <a:rPr lang="en-IE" sz="1200" dirty="0" err="1">
                <a:latin typeface="Times New Roman" panose="02020603050405020304" charset="0"/>
              </a:rPr>
              <a:t>Whang</a:t>
            </a:r>
            <a:r>
              <a:rPr lang="en-IE" sz="1200" dirty="0">
                <a:latin typeface="Times New Roman" panose="02020603050405020304" charset="0"/>
              </a:rPr>
              <a:t>, D., Cha, Y., Kim, H. (2016) "Evaluation of the VIDAS Anti-HCV Assay for Detection of Hepatitis C Virus Infection", </a:t>
            </a:r>
            <a:r>
              <a:rPr lang="en-IE" sz="1200" i="1" dirty="0">
                <a:latin typeface="Times New Roman" panose="02020603050405020304" charset="0"/>
              </a:rPr>
              <a:t>Annals of Laboratory Medicine</a:t>
            </a:r>
            <a:r>
              <a:rPr lang="en-IE" sz="1200" dirty="0">
                <a:latin typeface="Times New Roman" panose="02020603050405020304" charset="0"/>
              </a:rPr>
              <a:t>, 36(6), 550</a:t>
            </a:r>
            <a:r>
              <a:rPr lang="en-IE" sz="1200" dirty="0" smtClean="0">
                <a:latin typeface="Times New Roman" panose="02020603050405020304" charset="0"/>
              </a:rPr>
              <a:t>.</a:t>
            </a:r>
            <a:endParaRPr lang="en-IE" sz="1200" dirty="0" smtClean="0">
              <a:latin typeface="Times New Roman" panose="02020603050405020304" charset="0"/>
            </a:endParaRPr>
          </a:p>
          <a:p>
            <a:endParaRPr lang="en-IE" sz="1000" dirty="0" smtClean="0">
              <a:latin typeface="Times New Roman" panose="02020603050405020304" charset="0"/>
              <a:hlinkClick r:id="rId2"/>
            </a:endParaRPr>
          </a:p>
          <a:p>
            <a:r>
              <a:rPr lang="en-IE" sz="1200" dirty="0">
                <a:latin typeface="Times New Roman" panose="02020603050405020304" charset="0"/>
              </a:rPr>
              <a:t>2009 Jan;44(1):9-14. </a:t>
            </a:r>
            <a:r>
              <a:rPr lang="en-IE" sz="1200" dirty="0" err="1">
                <a:latin typeface="Times New Roman" panose="02020603050405020304" charset="0"/>
              </a:rPr>
              <a:t>doi</a:t>
            </a:r>
            <a:r>
              <a:rPr lang="en-IE" sz="1200" dirty="0">
                <a:latin typeface="Times New Roman" panose="02020603050405020304" charset="0"/>
              </a:rPr>
              <a:t>: 10.1016/j.jcv.2008.08.012. </a:t>
            </a:r>
            <a:r>
              <a:rPr lang="en-IE" sz="1200" dirty="0" err="1">
                <a:latin typeface="Times New Roman" panose="02020603050405020304" charset="0"/>
              </a:rPr>
              <a:t>Epub</a:t>
            </a:r>
            <a:r>
              <a:rPr lang="en-IE" sz="1200" dirty="0">
                <a:latin typeface="Times New Roman" panose="02020603050405020304" charset="0"/>
              </a:rPr>
              <a:t> 2008 Sep 27.  Varicella </a:t>
            </a:r>
            <a:r>
              <a:rPr lang="en-IE" sz="1200" dirty="0" err="1">
                <a:latin typeface="Times New Roman" panose="02020603050405020304" charset="0"/>
              </a:rPr>
              <a:t>Zooster</a:t>
            </a:r>
            <a:r>
              <a:rPr lang="en-IE" sz="1200" dirty="0">
                <a:latin typeface="Times New Roman" panose="02020603050405020304" charset="0"/>
              </a:rPr>
              <a:t> Virus. </a:t>
            </a:r>
            <a:endParaRPr lang="en-IE" sz="1000" dirty="0">
              <a:latin typeface="Times New Roman" panose="02020603050405020304" charset="0"/>
              <a:hlinkClick r:id="rId2"/>
            </a:endParaRPr>
          </a:p>
          <a:p>
            <a:r>
              <a:rPr lang="en-GB" sz="1200" dirty="0" smtClean="0">
                <a:latin typeface="Times New Roman" panose="02020603050405020304" charset="0"/>
                <a:hlinkClick r:id="rId2"/>
              </a:rPr>
              <a:t>http</a:t>
            </a:r>
            <a:r>
              <a:rPr lang="en-GB" sz="1400" dirty="0">
                <a:latin typeface="Times New Roman" panose="02020603050405020304" charset="0"/>
                <a:hlinkClick r:id="rId2"/>
              </a:rPr>
              <a:t>://www.biomerieux.com/en/immunoassay-publications</a:t>
            </a:r>
            <a:endParaRPr lang="en-GB" sz="1400" dirty="0">
              <a:latin typeface="Times New Roman" panose="02020603050405020304" charset="0"/>
              <a:hlinkClick r:id="rId2"/>
            </a:endParaRPr>
          </a:p>
          <a:p>
            <a:endParaRPr lang="en-GB" sz="1200" dirty="0">
              <a:latin typeface="Times New Roman" panose="02020603050405020304" charset="0"/>
              <a:hlinkClick r:id="rId2"/>
            </a:endParaRPr>
          </a:p>
          <a:p>
            <a:r>
              <a:rPr lang="en-GB" sz="1200" dirty="0">
                <a:latin typeface="Times New Roman" panose="02020603050405020304" charset="0"/>
                <a:hlinkClick r:id="rId3"/>
              </a:rPr>
              <a:t>https://</a:t>
            </a:r>
            <a:r>
              <a:rPr lang="en-GB" sz="1200" dirty="0" smtClean="0">
                <a:latin typeface="Times New Roman" panose="02020603050405020304" charset="0"/>
                <a:hlinkClick r:id="rId3"/>
              </a:rPr>
              <a:t>patents.google.com/patent/US20170114392A1/en</a:t>
            </a:r>
            <a:r>
              <a:rPr lang="en-GB" sz="1200" dirty="0" smtClean="0">
                <a:latin typeface="Times New Roman" panose="02020603050405020304" charset="0"/>
              </a:rPr>
              <a:t> </a:t>
            </a:r>
            <a:r>
              <a:rPr lang="en-IE" sz="1200" u="sng" dirty="0" smtClean="0">
                <a:latin typeface="Times New Roman" panose="02020603050405020304" charset="0"/>
                <a:hlinkClick r:id="rId4" tooltip="Journal of clinical virology : the official publication of the Pan American Society for Clinical Virology."/>
              </a:rPr>
              <a:t>J </a:t>
            </a:r>
            <a:r>
              <a:rPr lang="en-IE" sz="1200" u="sng" dirty="0" err="1">
                <a:latin typeface="Times New Roman" panose="02020603050405020304" charset="0"/>
                <a:hlinkClick r:id="rId4" tooltip="Journal of clinical virology : the official publication of the Pan American Society for Clinical Virology."/>
              </a:rPr>
              <a:t>Clin</a:t>
            </a:r>
            <a:r>
              <a:rPr lang="en-IE" sz="1200" u="sng" dirty="0">
                <a:latin typeface="Times New Roman" panose="02020603050405020304" charset="0"/>
                <a:hlinkClick r:id="rId4" tooltip="Journal of clinical virology : the official publication of the Pan American Society for Clinical Virology."/>
              </a:rPr>
              <a:t> </a:t>
            </a:r>
            <a:r>
              <a:rPr lang="en-IE" sz="1200" u="sng" dirty="0" err="1">
                <a:latin typeface="Times New Roman" panose="02020603050405020304" charset="0"/>
                <a:hlinkClick r:id="rId4" tooltip="Journal of clinical virology : the official publication of the Pan American Society for Clinical Virology."/>
              </a:rPr>
              <a:t>Virol</a:t>
            </a:r>
            <a:r>
              <a:rPr lang="en-IE" sz="1200" u="sng" dirty="0">
                <a:latin typeface="Times New Roman" panose="02020603050405020304" charset="0"/>
                <a:hlinkClick r:id="rId4" tooltip="Journal of clinical virology : the official publication of the Pan American Society for Clinical Virology."/>
              </a:rPr>
              <a:t>.</a:t>
            </a:r>
            <a:r>
              <a:rPr lang="en-IE" sz="1200" dirty="0">
                <a:latin typeface="Times New Roman" panose="02020603050405020304" charset="0"/>
              </a:rPr>
              <a:t> </a:t>
            </a:r>
            <a:endParaRPr lang="en-IE" sz="1000" dirty="0" smtClean="0">
              <a:latin typeface="Times New Roman" panose="02020603050405020304" charset="0"/>
            </a:endParaRPr>
          </a:p>
          <a:p>
            <a:pPr marL="0" indent="0">
              <a:buNone/>
            </a:pPr>
            <a:endParaRPr lang="en-IE" sz="900" dirty="0" smtClean="0">
              <a:latin typeface="Times New Roman" panose="02020603050405020304" charset="0"/>
            </a:endParaRPr>
          </a:p>
          <a:p>
            <a:r>
              <a:rPr lang="en-GB" sz="1200" dirty="0" smtClean="0">
                <a:latin typeface="Times New Roman" panose="02020603050405020304" charset="0"/>
              </a:rPr>
              <a:t>Other immunoassay analysers are Architect, </a:t>
            </a:r>
            <a:r>
              <a:rPr lang="en-GB" sz="1200" dirty="0" err="1" smtClean="0">
                <a:latin typeface="Times New Roman" panose="02020603050405020304" charset="0"/>
              </a:rPr>
              <a:t>Minilite</a:t>
            </a:r>
            <a:r>
              <a:rPr lang="en-GB" sz="1200" dirty="0" smtClean="0">
                <a:latin typeface="Times New Roman" panose="02020603050405020304" charset="0"/>
              </a:rPr>
              <a:t>, Beckman Coulter,  Use </a:t>
            </a:r>
            <a:r>
              <a:rPr lang="en-GB" sz="1200" dirty="0" err="1" smtClean="0">
                <a:latin typeface="Times New Roman" panose="02020603050405020304" charset="0"/>
              </a:rPr>
              <a:t>SciHub</a:t>
            </a:r>
            <a:r>
              <a:rPr lang="en-GB" sz="1400" dirty="0" smtClean="0">
                <a:latin typeface="Times New Roman" panose="02020603050405020304" charset="0"/>
              </a:rPr>
              <a:t> for free journal access every time. Aim to check who cited journals in Google scholar for 2018 journal articles.</a:t>
            </a:r>
            <a:endParaRPr lang="en-GB" sz="1400" dirty="0" smtClean="0">
              <a:latin typeface="Times New Roman" panose="02020603050405020304" charset="0"/>
            </a:endParaRPr>
          </a:p>
          <a:p>
            <a:pPr marL="0" indent="0">
              <a:buNone/>
            </a:pPr>
            <a:endParaRPr lang="en-GB" sz="1400" dirty="0" smtClean="0">
              <a:latin typeface="Times New Roman" panose="02020603050405020304" charset="0"/>
            </a:endParaRPr>
          </a:p>
        </p:txBody>
      </p:sp>
      <p:sp>
        <p:nvSpPr>
          <p:cNvPr id="4" name="Slide Number Placeholder 3"/>
          <p:cNvSpPr>
            <a:spLocks noGrp="1"/>
          </p:cNvSpPr>
          <p:nvPr>
            <p:ph type="sldNum" sz="quarter" idx="12"/>
          </p:nvPr>
        </p:nvSpPr>
        <p:spPr/>
        <p:txBody>
          <a:bodyPr/>
          <a:lstStyle/>
          <a:p>
            <a:fld id="{605719FF-A8F7-43B6-AA52-F4FB8B1F7149}" type="slidenum">
              <a:rPr lang="en-GB" smtClean="0"/>
            </a:fld>
            <a:endParaRPr lang="en-GB"/>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10553</Words>
  <Application>WPS Presentation</Application>
  <PresentationFormat>Custom</PresentationFormat>
  <Paragraphs>231</Paragraphs>
  <Slides>17</Slides>
  <Notes>11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Wingdings 3</vt:lpstr>
      <vt:lpstr>Arial</vt:lpstr>
      <vt:lpstr>Times New Roman</vt:lpstr>
      <vt:lpstr>Wingdings</vt:lpstr>
      <vt:lpstr>Century Gothic</vt:lpstr>
      <vt:lpstr>Microsoft YaHei</vt:lpstr>
      <vt:lpstr/>
      <vt:lpstr>Arial Unicode MS</vt:lpstr>
      <vt:lpstr>Calibri</vt:lpstr>
      <vt:lpstr>Segoe Print</vt:lpstr>
      <vt:lpstr>Ion</vt:lpstr>
      <vt:lpstr>        Mini Vidas Automated Immunoassay System  Valery Taustsiakou  </vt:lpstr>
      <vt:lpstr>Aims: Diagnosis of viral infection and immunity in paediatrics with serology panels of IgM and IgG </vt:lpstr>
      <vt:lpstr>Non-culture methods of diagnostics: </vt:lpstr>
      <vt:lpstr>Cytomegalovirus (CMV)- Betaherpesvirinae subfamily, Herpesviridae</vt:lpstr>
      <vt:lpstr>EBV-gammaherpesvirus </vt:lpstr>
      <vt:lpstr>EBV types, antibody tests and periods of testing. </vt:lpstr>
      <vt:lpstr>EBV antibody test interpretation: </vt:lpstr>
      <vt:lpstr>Antibody test interpretation: </vt:lpstr>
      <vt:lpstr>Varicella Zoster Virus- diagnosis and symptoms: </vt:lpstr>
      <vt:lpstr>Viral Hepatitis panel: </vt:lpstr>
      <vt:lpstr>Measles- RNA paromyxovirus </vt:lpstr>
      <vt:lpstr>PowerPoint 演示文稿</vt:lpstr>
      <vt:lpstr>Operation of the analyser: </vt:lpstr>
      <vt:lpstr>Principle of analyser and antibody capture assay</vt:lpstr>
      <vt:lpstr>Maintenance and laboratory resources</vt:lpstr>
      <vt:lpstr>Patient results fluorescence IU/ml titres interpretation</vt:lpstr>
      <vt:lpstr>Publication of Mini Vidas assays: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Mini-Vidaz Biomerieux Virology screen instrument and assays</dc:title>
  <dc:creator>116223829</dc:creator>
  <cp:lastModifiedBy>valerataust</cp:lastModifiedBy>
  <cp:revision>95</cp:revision>
  <dcterms:created xsi:type="dcterms:W3CDTF">2018-03-22T21:40:00Z</dcterms:created>
  <dcterms:modified xsi:type="dcterms:W3CDTF">2018-03-27T23:11:34Z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2057-10.2.0.5965</vt:lpwstr>
  </property>
</Properties>
</file>